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88952" cy="2240280"/>
          </a:xfrm>
          <a:prstGeom prst="rect">
            <a:avLst/>
          </a:prstGeom>
          <a:solidFill>
            <a:srgbClr val="1E5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71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7200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71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0"/>
            <a:ext cx="45720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75520" y="0"/>
            <a:ext cx="2313432" cy="502920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75520" y="0"/>
            <a:ext cx="2313432" cy="36576"/>
          </a:xfrm>
          <a:prstGeom prst="rect">
            <a:avLst/>
          </a:prstGeom>
          <a:solidFill>
            <a:srgbClr val="E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0080"/>
            <a:ext cx="10515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8F4EC"/>
                </a:solidFill>
              </a:rPr>
              <a:t>AgroVision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E8C060"/>
                </a:solidFill>
              </a:rPr>
              <a:t>Deep Learning for Plant Disease 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834640"/>
            <a:ext cx="5029200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71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5CFA5"/>
                </a:solidFill>
              </a:rPr>
              <a:t>AlexNet  ·  GoogLeNet  ·  Grad-CAM Explainability  ·  Robustness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57600"/>
            <a:ext cx="6858000" cy="777240"/>
          </a:xfrm>
          <a:prstGeom prst="rect">
            <a:avLst/>
          </a:prstGeom>
          <a:solidFill>
            <a:srgbClr val="1A4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657600"/>
            <a:ext cx="54864" cy="777240"/>
          </a:xfrm>
          <a:prstGeom prst="rect">
            <a:avLst/>
          </a:prstGeom>
          <a:solidFill>
            <a:srgbClr val="E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730752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4EC"/>
                </a:solidFill>
              </a:rPr>
              <a:t>Abeoseh Flomo   ·   Ruthwik Narreddy   ·   Bhavana Vasireddy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133087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5CFA5"/>
                </a:solidFill>
              </a:rPr>
              <a:t>DSBA 6165  ·  AI &amp; Deep Learning  ·  University of North Carolina at Charlotte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3611880"/>
            <a:ext cx="3977639" cy="822960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3611880"/>
            <a:ext cx="3977639" cy="54864"/>
          </a:xfrm>
          <a:prstGeom prst="rect">
            <a:avLst/>
          </a:prstGeom>
          <a:solidFill>
            <a:srgbClr val="E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8" y="3675887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C060"/>
                </a:solidFill>
              </a:rPr>
              <a:t>PlantVillage Dataset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40599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4EC"/>
                </a:solidFill>
              </a:rPr>
              <a:t>54,306 images  ·  33 disease classes  ·  14 crop species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773168"/>
            <a:ext cx="2148840" cy="1508760"/>
          </a:xfrm>
          <a:prstGeom prst="rect">
            <a:avLst/>
          </a:prstGeom>
          <a:solidFill>
            <a:srgbClr val="164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4773168"/>
            <a:ext cx="214884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4919472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227"/>
                </a:solidFill>
              </a:rPr>
              <a:t>54,306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559612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5CFA5"/>
                </a:solidFill>
              </a:rPr>
              <a:t>Leaf Images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360" y="4773168"/>
            <a:ext cx="2148840" cy="1508760"/>
          </a:xfrm>
          <a:prstGeom prst="rect">
            <a:avLst/>
          </a:prstGeom>
          <a:solidFill>
            <a:srgbClr val="164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80360" y="4773168"/>
            <a:ext cx="214884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53512" y="4919472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227"/>
                </a:solidFill>
              </a:rPr>
              <a:t>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53512" y="559612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5CFA5"/>
                </a:solidFill>
              </a:rPr>
              <a:t>Disease Classes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66360" y="4773168"/>
            <a:ext cx="2148840" cy="1508760"/>
          </a:xfrm>
          <a:prstGeom prst="rect">
            <a:avLst/>
          </a:prstGeom>
          <a:solidFill>
            <a:srgbClr val="164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66360" y="4773168"/>
            <a:ext cx="214884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39512" y="4919472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227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9512" y="559612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5CFA5"/>
                </a:solidFill>
              </a:rPr>
              <a:t>CNN Models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52360" y="4773168"/>
            <a:ext cx="2148840" cy="1508760"/>
          </a:xfrm>
          <a:prstGeom prst="rect">
            <a:avLst/>
          </a:prstGeom>
          <a:solidFill>
            <a:srgbClr val="164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52360" y="4773168"/>
            <a:ext cx="214884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4919472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227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559612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5CFA5"/>
                </a:solidFill>
              </a:rPr>
              <a:t>Train/Test Splits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38360" y="4773168"/>
            <a:ext cx="2148840" cy="1508760"/>
          </a:xfrm>
          <a:prstGeom prst="rect">
            <a:avLst/>
          </a:prstGeom>
          <a:solidFill>
            <a:srgbClr val="164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38360" y="4773168"/>
            <a:ext cx="214884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11512" y="4919472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227"/>
                </a:solidFill>
              </a:rPr>
              <a:t>&gt;98.5%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11512" y="559612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5CFA5"/>
                </a:solidFill>
              </a:rPr>
              <a:t>Peak F1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6355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B5CFA5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"/>
            <a:ext cx="50292" cy="822960"/>
          </a:xfrm>
          <a:prstGeom prst="rect">
            <a:avLst/>
          </a:prstGeom>
          <a:solidFill>
            <a:srgbClr val="E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315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4EC"/>
                </a:solidFill>
              </a:rPr>
              <a:t>Problem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5CFA5"/>
                </a:solidFill>
              </a:rPr>
              <a:t>Why automated plant disease detection is an urgent global challenge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70432"/>
            <a:ext cx="3749039" cy="5532120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170432"/>
            <a:ext cx="3749039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170432"/>
            <a:ext cx="50292" cy="5532120"/>
          </a:xfrm>
          <a:prstGeom prst="rect">
            <a:avLst/>
          </a:prstGeom>
          <a:solidFill>
            <a:srgbClr val="E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3444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227"/>
                </a:solidFill>
              </a:rPr>
              <a:t>The Crisis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1810512"/>
            <a:ext cx="3566160" cy="905256"/>
          </a:xfrm>
          <a:prstGeom prst="rect">
            <a:avLst/>
          </a:prstGeom>
          <a:solidFill>
            <a:srgbClr val="164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84708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C060"/>
                </a:solidFill>
              </a:rPr>
              <a:t>$220B+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226771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5CFA5"/>
                </a:solidFill>
              </a:rPr>
              <a:t>Annual global crop losses
due to plant diseases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2779776"/>
            <a:ext cx="3566160" cy="905256"/>
          </a:xfrm>
          <a:prstGeom prst="rect">
            <a:avLst/>
          </a:prstGeom>
          <a:solidFill>
            <a:srgbClr val="164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81635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C060"/>
                </a:solidFill>
              </a:rPr>
              <a:t>20–40%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323697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5CFA5"/>
                </a:solidFill>
              </a:rPr>
              <a:t>Yield reduction in
developing nations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3749039"/>
            <a:ext cx="3566160" cy="905256"/>
          </a:xfrm>
          <a:prstGeom prst="rect">
            <a:avLst/>
          </a:prstGeom>
          <a:solidFill>
            <a:srgbClr val="164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3785615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C060"/>
                </a:solidFill>
              </a:rPr>
              <a:t>1 Billion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20624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5CFA5"/>
                </a:solidFill>
              </a:rPr>
              <a:t>People face food insecurity
linked to crop failures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4718304"/>
            <a:ext cx="3566160" cy="905256"/>
          </a:xfrm>
          <a:prstGeom prst="rect">
            <a:avLst/>
          </a:prstGeom>
          <a:solidFill>
            <a:srgbClr val="164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475488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C060"/>
                </a:solidFill>
              </a:rPr>
              <a:t>70%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517550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5CFA5"/>
                </a:solidFill>
              </a:rPr>
              <a:t>Loss reduction possible
with early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5687568"/>
            <a:ext cx="3566160" cy="905256"/>
          </a:xfrm>
          <a:prstGeom prst="rect">
            <a:avLst/>
          </a:prstGeom>
          <a:solidFill>
            <a:srgbClr val="164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572414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C060"/>
                </a:solidFill>
              </a:rPr>
              <a:t>10,000+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614476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5CFA5"/>
                </a:solidFill>
              </a:rPr>
              <a:t>Known plant diseases —
only experts can identify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87952" y="1170432"/>
            <a:ext cx="7744968" cy="2606040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87952" y="1170432"/>
            <a:ext cx="7744968" cy="45720"/>
          </a:xfrm>
          <a:prstGeom prst="rect">
            <a:avLst/>
          </a:prstGeom>
          <a:solidFill>
            <a:srgbClr val="B5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1207008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A1E"/>
                </a:solidFill>
              </a:rPr>
              <a:t>Key Challenges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1691640"/>
            <a:ext cx="7406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1A160E"/>
                </a:solidFill>
              </a:rPr>
              <a:t>▸  Traditional visual inspection is slow, costly, and demands domain expertise unavailable to small farmers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160E"/>
                </a:solidFill>
              </a:rPr>
              <a:t>▸  33 distinct disease classes share overlapping visual symptoms — very fine-grained classification problem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160E"/>
                </a:solidFill>
              </a:rPr>
              <a:t>▸  Leaf appearance varies with lighting conditions, growth stage, and camera quality in real field settings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160E"/>
                </a:solidFill>
              </a:rPr>
              <a:t>▸  Models must remain reliable under real-world image degradation: blur, over-exposure, JPEG compression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87952" y="3904487"/>
            <a:ext cx="7744968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87952" y="3950208"/>
            <a:ext cx="7744968" cy="2752344"/>
          </a:xfrm>
          <a:prstGeom prst="rect">
            <a:avLst/>
          </a:prstGeom>
          <a:solidFill>
            <a:srgbClr val="EC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87952" y="3950208"/>
            <a:ext cx="7744968" cy="45720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3400" y="3995928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0D"/>
                </a:solidFill>
              </a:rPr>
              <a:t>Our Solution — AgroVision AI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60" y="4480560"/>
            <a:ext cx="7543800" cy="438912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51960" y="4480560"/>
            <a:ext cx="50292" cy="438912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45171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0D"/>
                </a:solidFill>
              </a:rPr>
              <a:t>Binary Classification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517136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0E"/>
                </a:solidFill>
              </a:rPr>
              <a:t>AlexNet &amp; GoogLeNet trained on 54K+ images → Healthy or Disease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4956048"/>
            <a:ext cx="7543800" cy="438912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51960" y="4956048"/>
            <a:ext cx="50292" cy="438912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3400" y="49926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0D"/>
                </a:solidFill>
              </a:rPr>
              <a:t>Multiclass (33 types)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499262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0E"/>
                </a:solidFill>
              </a:rPr>
              <a:t>Identify exact disease type from 33 classes across 14 crops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51960" y="5431536"/>
            <a:ext cx="7543800" cy="438912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51960" y="5431536"/>
            <a:ext cx="50292" cy="438912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43400" y="54681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0D"/>
                </a:solidFill>
              </a:rPr>
              <a:t>Grad-CAM XAI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546811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0E"/>
                </a:solidFill>
              </a:rPr>
              <a:t>Visualize which leaf regions drive each prediction — trustworthy AI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51960" y="5907023"/>
            <a:ext cx="7543800" cy="438912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51960" y="5907023"/>
            <a:ext cx="50292" cy="438912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594359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0D"/>
                </a:solidFill>
              </a:rPr>
              <a:t>Robustness Testing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5943599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0E"/>
                </a:solidFill>
              </a:rPr>
              <a:t>Evaluate under noise, blur, brightness, contrast, JPEG corruption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51960" y="6382511"/>
            <a:ext cx="7543800" cy="438912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51960" y="6382511"/>
            <a:ext cx="50292" cy="438912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43400" y="6419087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0D"/>
                </a:solidFill>
              </a:rPr>
              <a:t>Streamlit App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6419087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0E"/>
                </a:solidFill>
              </a:rPr>
              <a:t>Real-time web inference: upload a leaf image, get instant diagnosis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"/>
            <a:ext cx="50292" cy="822960"/>
          </a:xfrm>
          <a:prstGeom prst="rect">
            <a:avLst/>
          </a:prstGeom>
          <a:solidFill>
            <a:srgbClr val="E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315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4EC"/>
                </a:solidFill>
              </a:rPr>
              <a:t>Related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5CFA5"/>
                </a:solidFill>
              </a:rPr>
              <a:t>Three papers that directly informed our dataset choices, architecture, and methodology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207008"/>
            <a:ext cx="11676888" cy="1719072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207008"/>
            <a:ext cx="64008" cy="1719072"/>
          </a:xfrm>
          <a:prstGeom prst="rect">
            <a:avLst/>
          </a:prstGeom>
          <a:solidFill>
            <a:srgbClr val="1E5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207008"/>
            <a:ext cx="11676888" cy="36576"/>
          </a:xfrm>
          <a:prstGeom prst="rect">
            <a:avLst/>
          </a:prstGeom>
          <a:solidFill>
            <a:srgbClr val="1E5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89304"/>
            <a:ext cx="658368" cy="475488"/>
          </a:xfrm>
          <a:prstGeom prst="rect">
            <a:avLst/>
          </a:prstGeom>
          <a:solidFill>
            <a:srgbClr val="1E5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89304"/>
            <a:ext cx="658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F4EC"/>
                </a:solidFill>
              </a:rPr>
              <a:t>2016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28016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60E"/>
                </a:solidFill>
              </a:rPr>
              <a:t>Using Deep Learning for Image-Based Plant Disease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664208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235"/>
                </a:solidFill>
              </a:rPr>
              <a:t>Mohanty, Hughes &amp; Salathé  ·  Frontiers in Plant Science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1956816"/>
            <a:ext cx="7132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235"/>
                </a:solidFill>
              </a:rPr>
              <a:t>First major CNN benchmark on PlantVillage (54,306 images). AlexNet &amp; GoogLeNet achieved 99.35% accuracy with ImageNet transfer learning across 26 diseases and 14 crop species. Established the 80/10/10 train/val/test split as best practice.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0768" y="1280160"/>
            <a:ext cx="3410712" cy="749808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28930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54A2A"/>
                </a:solidFill>
              </a:rPr>
              <a:t>Gap: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1289304"/>
            <a:ext cx="27432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54A2A"/>
                </a:solidFill>
              </a:rPr>
              <a:t>Black-box models — no explainability. No robustness testing under real-world image degradation.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30768" y="2084832"/>
            <a:ext cx="3410712" cy="768096"/>
          </a:xfrm>
          <a:prstGeom prst="rect">
            <a:avLst/>
          </a:prstGeom>
          <a:solidFill>
            <a:srgbClr val="EA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09397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2B0D"/>
                </a:solidFill>
              </a:rPr>
              <a:t>→ We: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2093976"/>
            <a:ext cx="26334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32E"/>
                </a:solidFill>
              </a:rPr>
              <a:t>We directly replicate their AlexNet + GoogLeNet comparison and 80/10/10 split. We extend with Grad-CAM explainability and robustness analysis — both absent from their work.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3008376"/>
            <a:ext cx="11676888" cy="1719072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3008376"/>
            <a:ext cx="64008" cy="1719072"/>
          </a:xfrm>
          <a:prstGeom prst="rect">
            <a:avLst/>
          </a:prstGeom>
          <a:solidFill>
            <a:srgbClr val="8B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" y="3008376"/>
            <a:ext cx="11676888" cy="36576"/>
          </a:xfrm>
          <a:prstGeom prst="rect">
            <a:avLst/>
          </a:prstGeom>
          <a:solidFill>
            <a:srgbClr val="8B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090672"/>
            <a:ext cx="658368" cy="475488"/>
          </a:xfrm>
          <a:prstGeom prst="rect">
            <a:avLst/>
          </a:prstGeom>
          <a:solidFill>
            <a:srgbClr val="8B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090672"/>
            <a:ext cx="658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F4EC"/>
                </a:solidFill>
              </a:rPr>
              <a:t>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081528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60E"/>
                </a:solidFill>
              </a:rPr>
              <a:t>AI-Powered Detection of Pumpkin Leaf Diseases Using DualFusion-CBAM-Stochastic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465576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235"/>
                </a:solidFill>
              </a:rPr>
              <a:t>Bhuria et al.  ·  Frontiers in Plant Science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3758184"/>
            <a:ext cx="7132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235"/>
                </a:solidFill>
              </a:rPr>
              <a:t>Fused DenseNet121 + EfficientNetB3 with a CBAM attention module on 2,000 pumpkin leaf images. Achieved ~96% accuracy. Demonstrated that attention-augmented CNN fusion improves fine-grained agricultural disease classification.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30768" y="3081528"/>
            <a:ext cx="3410712" cy="749808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309067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54A2A"/>
                </a:solidFill>
              </a:rPr>
              <a:t>Gap: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3090672"/>
            <a:ext cx="27432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54A2A"/>
                </a:solidFill>
              </a:rPr>
              <a:t>Single crop (pumpkin) with no cross-dataset generalization. No XAI analysis or robustness evaluation.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30768" y="3886200"/>
            <a:ext cx="3410712" cy="768096"/>
          </a:xfrm>
          <a:prstGeom prst="rect">
            <a:avLst/>
          </a:prstGeom>
          <a:solidFill>
            <a:srgbClr val="EA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389534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2B0D"/>
                </a:solidFill>
              </a:rPr>
              <a:t>→ We: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2" y="3895344"/>
            <a:ext cx="26334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32E"/>
                </a:solidFill>
              </a:rPr>
              <a:t>Motivated our inclusion of the pumpkin dataset and our multi-architecture comparison strategy. Validated the CNN approach for fine-grained multiclass disease detection.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" y="4809744"/>
            <a:ext cx="11676888" cy="1719072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6032" y="4809744"/>
            <a:ext cx="64008" cy="1719072"/>
          </a:xfrm>
          <a:prstGeom prst="rect">
            <a:avLst/>
          </a:prstGeom>
          <a:solidFill>
            <a:srgbClr val="2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6032" y="4809744"/>
            <a:ext cx="11676888" cy="36576"/>
          </a:xfrm>
          <a:prstGeom prst="rect">
            <a:avLst/>
          </a:prstGeom>
          <a:solidFill>
            <a:srgbClr val="2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4892040"/>
            <a:ext cx="658368" cy="475488"/>
          </a:xfrm>
          <a:prstGeom prst="rect">
            <a:avLst/>
          </a:prstGeom>
          <a:solidFill>
            <a:srgbClr val="2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892040"/>
            <a:ext cx="658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F4EC"/>
                </a:solidFill>
              </a:rPr>
              <a:t>2024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4882896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60E"/>
                </a:solidFill>
              </a:rPr>
              <a:t>An Improved Pear Disease Classification Using Cycle Generative Adversarial Network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5266944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4235"/>
                </a:solidFill>
              </a:rPr>
              <a:t>Alshammari et al.  ·  Scientific Reports (Nature)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5559552"/>
            <a:ext cx="7132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235"/>
                </a:solidFill>
              </a:rPr>
              <a:t>Applied CycleGAN for cross-domain data augmentation on the DiaMOS pear dataset. Compared VGG19, ResNet50, and EfficientNetB0. GAN-based augmentation improved classification accuracy by ~7% on average across architectures.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30768" y="4882896"/>
            <a:ext cx="3410712" cy="749808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0" y="48920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54A2A"/>
                </a:solidFill>
              </a:rPr>
              <a:t>Gap: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4892040"/>
            <a:ext cx="27432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54A2A"/>
                </a:solidFill>
              </a:rPr>
              <a:t>GAN augmentation is computationally expensive. Scope limited to pear diseases — generalization not tested.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30768" y="5687568"/>
            <a:ext cx="3410712" cy="768096"/>
          </a:xfrm>
          <a:prstGeom prst="rect">
            <a:avLst/>
          </a:prstGeom>
          <a:solidFill>
            <a:srgbClr val="EA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0" y="569671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2B0D"/>
                </a:solidFill>
              </a:rPr>
              <a:t>→ We: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25712" y="5696712"/>
            <a:ext cx="26334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32E"/>
                </a:solidFill>
              </a:rPr>
              <a:t>Motivated our use of the DiaMOS pear dataset. Validated CNN-based multiclass classification on field-captured agricultural images beyond controlled lab settings.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"/>
            <a:ext cx="50292" cy="822960"/>
          </a:xfrm>
          <a:prstGeom prst="rect">
            <a:avLst/>
          </a:prstGeom>
          <a:solidFill>
            <a:srgbClr val="E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315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4EC"/>
                </a:solidFill>
              </a:rPr>
              <a:t>Dataset &amp; Training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5CFA5"/>
                </a:solidFill>
              </a:rPr>
              <a:t>Three datasets · Data augmentation · 5 train/test splits · Best-F1 checkpointing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70432"/>
            <a:ext cx="3840480" cy="278892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170432"/>
            <a:ext cx="3840480" cy="54864"/>
          </a:xfrm>
          <a:prstGeom prst="rect">
            <a:avLst/>
          </a:prstGeom>
          <a:solidFill>
            <a:srgbClr val="1E5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170432"/>
            <a:ext cx="64008" cy="2788920"/>
          </a:xfrm>
          <a:prstGeom prst="rect">
            <a:avLst/>
          </a:prstGeom>
          <a:solidFill>
            <a:srgbClr val="1E5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120700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561E"/>
                </a:solidFill>
              </a:rPr>
              <a:t>PlantVillage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1664208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60E"/>
                </a:solidFill>
              </a:rPr>
              <a:t>54,306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08483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4235"/>
                </a:solidFill>
              </a:rPr>
              <a:t>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237744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A4235"/>
                </a:solidFill>
              </a:rPr>
              <a:t>· 26 diseases · 14 crop species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4235"/>
                </a:solidFill>
              </a:rPr>
              <a:t>· Healthy + diseased categories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4235"/>
                </a:solidFill>
              </a:rPr>
              <a:t>· Controlled lab conditions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4235"/>
                </a:solidFill>
              </a:rPr>
              <a:t>· Primary training dataset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1170432"/>
            <a:ext cx="3840480" cy="278892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170432"/>
            <a:ext cx="3840480" cy="54864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1170432"/>
            <a:ext cx="64008" cy="2788920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3984" y="120700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C3A1E"/>
                </a:solidFill>
              </a:rPr>
              <a:t>DiaMOS Pear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1664208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60E"/>
                </a:solidFill>
              </a:rPr>
              <a:t>3,505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9904" y="208483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4235"/>
                </a:solidFill>
              </a:rPr>
              <a:t>images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4" y="237744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A4235"/>
                </a:solidFill>
              </a:rPr>
              <a:t>· 4 pear disease classes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4235"/>
                </a:solidFill>
              </a:rPr>
              <a:t>· Field-captured photographs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4235"/>
                </a:solidFill>
              </a:rPr>
              <a:t>· Variable lighting &amp; angles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4235"/>
                </a:solidFill>
              </a:rPr>
              <a:t>· Real-world conditions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2752" y="1170432"/>
            <a:ext cx="3840480" cy="278892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02752" y="1170432"/>
            <a:ext cx="3840480" cy="54864"/>
          </a:xfrm>
          <a:prstGeom prst="rect">
            <a:avLst/>
          </a:prstGeom>
          <a:solidFill>
            <a:srgbClr val="2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02752" y="1170432"/>
            <a:ext cx="64008" cy="2788920"/>
          </a:xfrm>
          <a:prstGeom prst="rect">
            <a:avLst/>
          </a:prstGeom>
          <a:solidFill>
            <a:srgbClr val="2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67344" y="120700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6B8A"/>
                </a:solidFill>
              </a:rPr>
              <a:t>Pumpkin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7344" y="1664208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60E"/>
                </a:solidFill>
              </a:rPr>
              <a:t>2,000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13264" y="208483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4235"/>
                </a:solidFill>
              </a:rPr>
              <a:t>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7344" y="237744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A4235"/>
                </a:solidFill>
              </a:rPr>
              <a:t>· Multiple disease classes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4235"/>
                </a:solidFill>
              </a:rPr>
              <a:t>· Outdoor capture conditions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4235"/>
                </a:solidFill>
              </a:rPr>
              <a:t>· Diverse lighting scenarios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4235"/>
                </a:solidFill>
              </a:rPr>
              <a:t>· Smallest dataset — challenging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" y="4114800"/>
            <a:ext cx="11676888" cy="384048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" y="4114800"/>
            <a:ext cx="11676888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4151376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4EC"/>
                </a:solidFill>
              </a:rPr>
              <a:t>End-to-End Training Pipeline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4572000"/>
            <a:ext cx="1664208" cy="2148840"/>
          </a:xfrm>
          <a:prstGeom prst="rect">
            <a:avLst/>
          </a:prstGeom>
          <a:solidFill>
            <a:srgbClr val="E8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4572000"/>
            <a:ext cx="1664208" cy="36576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461772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0D"/>
                </a:solidFill>
              </a:rPr>
              <a:t>Raw Images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4992624"/>
            <a:ext cx="1508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235"/>
                </a:solidFill>
              </a:rPr>
              <a:t>54K+ JPEGs
3 datasets merged
dataset_split.csv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38528" y="5458968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84248" y="4572000"/>
            <a:ext cx="1664208" cy="214884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84248" y="4572000"/>
            <a:ext cx="1664208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5688" y="461772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0D"/>
                </a:solidFill>
              </a:rPr>
              <a:t>Augmentation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75688" y="4992624"/>
            <a:ext cx="1508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235"/>
                </a:solidFill>
              </a:rPr>
              <a:t>H/V Flip · Rotate
Zoom · ColorJitter
Brightness ±10%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6744" y="5458968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12464" y="4572000"/>
            <a:ext cx="1664208" cy="2148840"/>
          </a:xfrm>
          <a:prstGeom prst="rect">
            <a:avLst/>
          </a:prstGeom>
          <a:solidFill>
            <a:srgbClr val="E8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712464" y="4572000"/>
            <a:ext cx="1664208" cy="36576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03904" y="461772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0D"/>
                </a:solidFill>
              </a:rPr>
              <a:t>Resize &amp; Norm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03904" y="4992624"/>
            <a:ext cx="1508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235"/>
                </a:solidFill>
              </a:rPr>
              <a:t>224×224 pixels
ImageNet mean/std
μ=[.485,.456,.406]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0" y="5458968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40680" y="4572000"/>
            <a:ext cx="1664208" cy="214884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40680" y="4572000"/>
            <a:ext cx="1664208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32120" y="461772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0D"/>
                </a:solidFill>
              </a:rPr>
              <a:t>Backbone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32120" y="4992624"/>
            <a:ext cx="1508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235"/>
                </a:solidFill>
              </a:rPr>
              <a:t>AlexNet features
GoogLeNet inception
Frozen + fine-tuned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23176" y="5458968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68896" y="4572000"/>
            <a:ext cx="1664208" cy="2148840"/>
          </a:xfrm>
          <a:prstGeom prst="rect">
            <a:avLst/>
          </a:prstGeom>
          <a:solidFill>
            <a:srgbClr val="E8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168896" y="4572000"/>
            <a:ext cx="1664208" cy="36576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0336" y="461772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0D"/>
                </a:solidFill>
              </a:rPr>
              <a:t>Custom Head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0336" y="4992624"/>
            <a:ext cx="1508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235"/>
                </a:solidFill>
              </a:rPr>
              <a:t>AlexNet: 4096→N
GoogLeNet: 1024
→500→ReLU→N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51392" y="5458968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897112" y="4572000"/>
            <a:ext cx="1664208" cy="214884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897112" y="4572000"/>
            <a:ext cx="1664208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88552" y="461772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0D"/>
                </a:solidFill>
              </a:rPr>
              <a:t>Training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88552" y="4992624"/>
            <a:ext cx="1508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235"/>
                </a:solidFill>
              </a:rPr>
              <a:t>30 epochs · Adam
lr=1e-4 · Best-F1
checkpointing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79608" y="5458968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625328" y="4572000"/>
            <a:ext cx="1664208" cy="2148840"/>
          </a:xfrm>
          <a:prstGeom prst="rect">
            <a:avLst/>
          </a:prstGeom>
          <a:solidFill>
            <a:srgbClr val="E8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625328" y="4572000"/>
            <a:ext cx="1664208" cy="36576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716768" y="461772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0D"/>
                </a:solidFill>
              </a:rPr>
              <a:t>Evaluation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16768" y="4992624"/>
            <a:ext cx="1508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235"/>
                </a:solidFill>
              </a:rPr>
              <a:t>Acc · F1 · Prec
Recall · 5 splits
Binary + 33-class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"/>
            <a:ext cx="50292" cy="822960"/>
          </a:xfrm>
          <a:prstGeom prst="rect">
            <a:avLst/>
          </a:prstGeom>
          <a:solidFill>
            <a:srgbClr val="E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315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4EC"/>
                </a:solidFill>
              </a:rPr>
              <a:t>Model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5CFA5"/>
                </a:solidFill>
              </a:rPr>
              <a:t>Transfer learning — ImageNet pretrained features + custom classification heads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9048" y="1170432"/>
            <a:ext cx="36576" cy="55321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170432"/>
            <a:ext cx="5760720" cy="530352"/>
          </a:xfrm>
          <a:prstGeom prst="rect">
            <a:avLst/>
          </a:prstGeom>
          <a:solidFill>
            <a:srgbClr val="1E5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2070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4EC"/>
                </a:solidFill>
              </a:rPr>
              <a:t>AlexNet  (Krizhevsky et al. 2012)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737360"/>
            <a:ext cx="5760720" cy="2212848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737360"/>
            <a:ext cx="50292" cy="2212848"/>
          </a:xfrm>
          <a:prstGeom prst="rect">
            <a:avLst/>
          </a:prstGeom>
          <a:solidFill>
            <a:srgbClr val="1E5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77393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561E"/>
                </a:solidFill>
              </a:rPr>
              <a:t>Backbone (ImageNet pretrained — features frozen)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2139696"/>
            <a:ext cx="54681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60E"/>
                </a:solidFill>
              </a:rPr>
              <a:t>• 5 convolutional layers with max pooling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60E"/>
                </a:solidFill>
              </a:rPr>
              <a:t>• 3 fully connected layers (classifier)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60E"/>
                </a:solidFill>
              </a:rPr>
              <a:t>• ~60 million parameters total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60E"/>
                </a:solidFill>
              </a:rPr>
              <a:t>• Dropout for regularization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60E"/>
                </a:solidFill>
              </a:rPr>
              <a:t>• Target layer: features[10] (last conv)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4005072"/>
            <a:ext cx="576072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" y="4041648"/>
            <a:ext cx="2816352" cy="1508760"/>
          </a:xfrm>
          <a:prstGeom prst="rect">
            <a:avLst/>
          </a:prstGeom>
          <a:solidFill>
            <a:srgbClr val="E8F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4041648"/>
            <a:ext cx="2816352" cy="36576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407822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0D"/>
                </a:solidFill>
              </a:rPr>
              <a:t>Binary 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389120"/>
            <a:ext cx="25968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4A4235"/>
                </a:solidFill>
              </a:rPr>
              <a:t>classifier[-1] = Linear(4096 → 1)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A4235"/>
                </a:solidFill>
              </a:rPr>
              <a:t>Loss: BCEWithLogitsLoss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A4235"/>
                </a:solidFill>
              </a:rPr>
              <a:t>Output: sigmoid probability → Healthy/Disease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4041648"/>
            <a:ext cx="2889504" cy="1508760"/>
          </a:xfrm>
          <a:prstGeom prst="rect">
            <a:avLst/>
          </a:prstGeom>
          <a:solidFill>
            <a:srgbClr val="FB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27248" y="4041648"/>
            <a:ext cx="2889504" cy="36576"/>
          </a:xfrm>
          <a:prstGeom prst="rect">
            <a:avLst/>
          </a:prstGeom>
          <a:solidFill>
            <a:srgbClr val="8B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18688" y="407822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C3A1E"/>
                </a:solidFill>
              </a:rPr>
              <a:t>Multiclass Head (33 diseases)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6976" y="4389120"/>
            <a:ext cx="25968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4A4235"/>
                </a:solidFill>
              </a:rPr>
              <a:t>classifier[-1] = Linear(4096 → 33)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A4235"/>
                </a:solidFill>
              </a:rPr>
              <a:t>Loss: CrossEntropyLoss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A4235"/>
                </a:solidFill>
              </a:rPr>
              <a:t>Output: softmax over 33 disease classes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5605272"/>
            <a:ext cx="5760720" cy="914400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6032" y="5605272"/>
            <a:ext cx="50292" cy="914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5650992"/>
            <a:ext cx="55321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C3A1E"/>
                </a:solidFill>
              </a:rPr>
              <a:t>Key insight: Simpler architecture — lower parameter count in head → better generalizes for 33-class task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170432"/>
            <a:ext cx="5760720" cy="530352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2070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4EC"/>
                </a:solidFill>
              </a:rPr>
              <a:t>GoogLeNet  (Szegedy et al. 2014)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1737360"/>
            <a:ext cx="5760720" cy="2212848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1737360"/>
            <a:ext cx="50292" cy="2212848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177393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3A1E"/>
                </a:solidFill>
              </a:rPr>
              <a:t>Backbone (ImageNet pretrained — features frozen)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1" y="2139696"/>
            <a:ext cx="54681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60E"/>
                </a:solidFill>
              </a:rPr>
              <a:t>• 22 layers deep (Inception v1)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60E"/>
                </a:solidFill>
              </a:rPr>
              <a:t>• 9 Inception modules with parallel conv paths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60E"/>
                </a:solidFill>
              </a:rPr>
              <a:t>• ~6.8 million parameters (more efficient)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60E"/>
                </a:solidFill>
              </a:rPr>
              <a:t>• aux_logits=False for fine-tuning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60E"/>
                </a:solidFill>
              </a:rPr>
              <a:t>• Target layer: inception5b (final block)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005072"/>
            <a:ext cx="576072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4041648"/>
            <a:ext cx="2816352" cy="1508760"/>
          </a:xfrm>
          <a:prstGeom prst="rect">
            <a:avLst/>
          </a:prstGeom>
          <a:solidFill>
            <a:srgbClr val="E8F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4041648"/>
            <a:ext cx="2816352" cy="36576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79" y="407822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0D"/>
                </a:solidFill>
              </a:rPr>
              <a:t>Binary Head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4389120"/>
            <a:ext cx="25968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4A4235"/>
                </a:solidFill>
              </a:rPr>
              <a:t>fc = FC1(1024→500) → ReLU → FC2(500→1)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A4235"/>
                </a:solidFill>
              </a:rPr>
              <a:t>Loss: BCEWithLogitsLoss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A4235"/>
                </a:solidFill>
              </a:rPr>
              <a:t>Output: sigmoid probability → Healthy/Disease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34856" y="4041648"/>
            <a:ext cx="2889504" cy="1508760"/>
          </a:xfrm>
          <a:prstGeom prst="rect">
            <a:avLst/>
          </a:prstGeom>
          <a:solidFill>
            <a:srgbClr val="FB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34856" y="4041648"/>
            <a:ext cx="2889504" cy="36576"/>
          </a:xfrm>
          <a:prstGeom prst="rect">
            <a:avLst/>
          </a:prstGeom>
          <a:solidFill>
            <a:srgbClr val="8B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407822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C3A1E"/>
                </a:solidFill>
              </a:rPr>
              <a:t>Multiclass Head (33 diseases)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44584" y="4389120"/>
            <a:ext cx="25968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4A4235"/>
                </a:solidFill>
              </a:rPr>
              <a:t>fc = FC1(1024→500) → ReLU → FC2(500→33)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A4235"/>
                </a:solidFill>
              </a:rPr>
              <a:t>Loss: CrossEntropyLoss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A4235"/>
                </a:solidFill>
              </a:rPr>
              <a:t>Output: softmax over 33 disease classes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5605272"/>
            <a:ext cx="5760720" cy="914400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5605272"/>
            <a:ext cx="50292" cy="914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5650992"/>
            <a:ext cx="55321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C3A1E"/>
                </a:solidFill>
              </a:rPr>
              <a:t>Key insight: Deeper architecture captures richer features — edges out AlexNet at binary but loses on 33-class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"/>
            <a:ext cx="50292" cy="822960"/>
          </a:xfrm>
          <a:prstGeom prst="rect">
            <a:avLst/>
          </a:prstGeom>
          <a:solidFill>
            <a:srgbClr val="E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315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4EC"/>
                </a:solidFill>
              </a:rPr>
              <a:t>Results — Binary Classification (Healthy vs Disease)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5CFA5"/>
                </a:solidFill>
              </a:rPr>
              <a:t>AlexNet vs GoogLeNet across 5 train/val/test split ratios · 30 epochs · Best-F1 checkpoint saved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70432"/>
            <a:ext cx="1417320" cy="713232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170432"/>
            <a:ext cx="141732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" y="1188720"/>
            <a:ext cx="13258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8F4EC"/>
                </a:solidFill>
              </a:rPr>
              <a:t>Split Ratio
(Train/Val/Test)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19072" y="1170432"/>
            <a:ext cx="1645920" cy="713232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9072" y="1170432"/>
            <a:ext cx="164592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64792" y="1188720"/>
            <a:ext cx="15544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8F4EC"/>
                </a:solidFill>
              </a:rPr>
              <a:t>AlexNet
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10712" y="1170432"/>
            <a:ext cx="1600200" cy="713232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10712" y="1170432"/>
            <a:ext cx="1600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1188720"/>
            <a:ext cx="15087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8F4EC"/>
                </a:solidFill>
              </a:rPr>
              <a:t>AlexNet
F1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56632" y="1170432"/>
            <a:ext cx="1645920" cy="713232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56632" y="1170432"/>
            <a:ext cx="164592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2352" y="1188720"/>
            <a:ext cx="15544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8F4EC"/>
                </a:solidFill>
              </a:rPr>
              <a:t>AlexNet
Precision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48272" y="1170432"/>
            <a:ext cx="1645920" cy="713232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48272" y="1170432"/>
            <a:ext cx="164592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3992" y="1188720"/>
            <a:ext cx="15544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8F4EC"/>
                </a:solidFill>
              </a:rPr>
              <a:t>GoogLeNet
Accuracy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39912" y="1170432"/>
            <a:ext cx="1600200" cy="713232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39912" y="1170432"/>
            <a:ext cx="1600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85632" y="1188720"/>
            <a:ext cx="15087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8F4EC"/>
                </a:solidFill>
              </a:rPr>
              <a:t>GoogLeNet
F1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85832" y="1170432"/>
            <a:ext cx="1463040" cy="713232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85832" y="1170432"/>
            <a:ext cx="146304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31552" y="1188720"/>
            <a:ext cx="13716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8F4EC"/>
                </a:solidFill>
              </a:rPr>
              <a:t>Best 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" y="1938528"/>
            <a:ext cx="141732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" y="2029968"/>
            <a:ext cx="1325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80 / 10 / 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19072" y="1938528"/>
            <a:ext cx="164592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64792" y="2029968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99.11%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10712" y="1938528"/>
            <a:ext cx="160020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56432" y="2029968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98.31%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56632" y="1938528"/>
            <a:ext cx="164592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02352" y="2029968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97.29%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48272" y="1938528"/>
            <a:ext cx="164592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93992" y="2029968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99.27%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39912" y="1938528"/>
            <a:ext cx="160020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85632" y="2029968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160E"/>
                </a:solidFill>
              </a:rPr>
              <a:t>98.62%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85832" y="1938528"/>
            <a:ext cx="1463040" cy="603504"/>
          </a:xfrm>
          <a:prstGeom prst="rect">
            <a:avLst/>
          </a:prstGeom>
          <a:solidFill>
            <a:srgbClr val="E4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31552" y="202996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D2B0D"/>
                </a:solidFill>
              </a:rPr>
              <a:t>GoogLeNet 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032" y="2596896"/>
            <a:ext cx="1417320" cy="603504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1752" y="2688336"/>
            <a:ext cx="1325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60 / 20 / 20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19072" y="2596896"/>
            <a:ext cx="1645920" cy="603504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64792" y="2688336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99.26%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10712" y="2596896"/>
            <a:ext cx="1600200" cy="603504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56432" y="2688336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160E"/>
                </a:solidFill>
              </a:rPr>
              <a:t>98.59%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56632" y="2596896"/>
            <a:ext cx="1645920" cy="603504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02352" y="2688336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98.30%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48272" y="2596896"/>
            <a:ext cx="1645920" cy="603504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93992" y="2688336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98.99%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39912" y="2596896"/>
            <a:ext cx="1600200" cy="603504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85632" y="2688336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98.06%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85832" y="2596896"/>
            <a:ext cx="1463040" cy="603504"/>
          </a:xfrm>
          <a:prstGeom prst="rect">
            <a:avLst/>
          </a:prstGeom>
          <a:solidFill>
            <a:srgbClr val="E4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31552" y="2688336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D2B0D"/>
                </a:solidFill>
              </a:rPr>
              <a:t>AlexNet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6032" y="3255264"/>
            <a:ext cx="141732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1752" y="3346704"/>
            <a:ext cx="1325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50 / 25 / 25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719072" y="3255264"/>
            <a:ext cx="164592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764792" y="3346704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99.06%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10712" y="3255264"/>
            <a:ext cx="160020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56432" y="3346704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160E"/>
                </a:solidFill>
              </a:rPr>
              <a:t>98.20%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56632" y="3255264"/>
            <a:ext cx="164592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02352" y="3346704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98.00%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48272" y="3255264"/>
            <a:ext cx="164592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93992" y="3346704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99.02%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439912" y="3255264"/>
            <a:ext cx="160020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85632" y="3346704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98.13%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085832" y="3255264"/>
            <a:ext cx="1463040" cy="603504"/>
          </a:xfrm>
          <a:prstGeom prst="rect">
            <a:avLst/>
          </a:prstGeom>
          <a:solidFill>
            <a:srgbClr val="E4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31552" y="3346704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D2B0D"/>
                </a:solidFill>
              </a:rPr>
              <a:t>AlexNet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6032" y="3913632"/>
            <a:ext cx="1417320" cy="603504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01752" y="4005072"/>
            <a:ext cx="1325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40 / 30 / 30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719072" y="3913632"/>
            <a:ext cx="1645920" cy="603504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64792" y="4005072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98.95%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410712" y="3913632"/>
            <a:ext cx="1600200" cy="603504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456432" y="4005072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98.00%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56632" y="3913632"/>
            <a:ext cx="1645920" cy="603504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102352" y="4005072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97.61%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748272" y="3913632"/>
            <a:ext cx="1645920" cy="603504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793992" y="4005072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99.11%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439912" y="3913632"/>
            <a:ext cx="1600200" cy="603504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485632" y="4005072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160E"/>
                </a:solidFill>
              </a:rPr>
              <a:t>98.29%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085832" y="3913632"/>
            <a:ext cx="1463040" cy="603504"/>
          </a:xfrm>
          <a:prstGeom prst="rect">
            <a:avLst/>
          </a:prstGeom>
          <a:solidFill>
            <a:srgbClr val="E4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131552" y="4005072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D2B0D"/>
                </a:solidFill>
              </a:rPr>
              <a:t>GoogLeNet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56032" y="4572000"/>
            <a:ext cx="141732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1752" y="4663440"/>
            <a:ext cx="1325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20 / 40 / 40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719072" y="4572000"/>
            <a:ext cx="164592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764792" y="4663440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98.75%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410712" y="4572000"/>
            <a:ext cx="160020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456432" y="4663440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160E"/>
                </a:solidFill>
              </a:rPr>
              <a:t>97.63%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56632" y="4572000"/>
            <a:ext cx="164592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102352" y="4663440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97.30%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748272" y="4572000"/>
            <a:ext cx="164592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793992" y="4663440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98.72%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439912" y="4572000"/>
            <a:ext cx="160020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485632" y="4663440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97.55%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085832" y="4572000"/>
            <a:ext cx="1463040" cy="603504"/>
          </a:xfrm>
          <a:prstGeom prst="rect">
            <a:avLst/>
          </a:prstGeom>
          <a:solidFill>
            <a:srgbClr val="E4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131552" y="466344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D2B0D"/>
                </a:solidFill>
              </a:rPr>
              <a:t>AlexNet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56032" y="5257800"/>
            <a:ext cx="11676888" cy="1444752"/>
          </a:xfrm>
          <a:prstGeom prst="rect">
            <a:avLst/>
          </a:prstGeom>
          <a:solidFill>
            <a:srgbClr val="EC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56032" y="5257800"/>
            <a:ext cx="11676888" cy="45720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56032" y="5257800"/>
            <a:ext cx="50292" cy="1444752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38912" y="529437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0D"/>
                </a:solidFill>
              </a:rPr>
              <a:t>Key Observations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38912" y="56692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1A160E"/>
                </a:solidFill>
              </a:rPr>
              <a:t>▸  Both models exceed 98.5% F1 on 80/10/10 — confirming ImageNet transfer learning is extremely effective for plant pathology.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60E"/>
                </a:solidFill>
              </a:rPr>
              <a:t>▸  GoogLeNet edges AlexNet at 80/10/10 (98.62% vs 98.31% F1) but AlexNet leads at 60/20/20 — no single dominant model.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60E"/>
                </a:solidFill>
              </a:rPr>
              <a:t>▸  Performance degrades gracefully: even at 20/40/40 (only 20% training data), both stay above 97.5% F1 — very data-efficient.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60E"/>
                </a:solidFill>
              </a:rPr>
              <a:t>▸  Results match and reproduce Mohanty et al. (2016) — validating our pipeline implementation.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4EC"/>
                </a:solidFill>
              </a:rPr>
              <a:t>Training Curves — Binary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C060"/>
                </a:solidFill>
              </a:rPr>
              <a:t>AlexNet (blue) vs GoogLeNet (red) · Best split 80/10/10 · Loss · Accuracy · F1 · Precision · Recall</a:t>
            </a:r>
          </a:p>
        </p:txBody>
      </p:sp>
      <p:pic>
        <p:nvPicPr>
          <p:cNvPr id="7" name="Picture 6" descr="alexnet_vs_googlenet_best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70432"/>
            <a:ext cx="11823192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56032" y="5230368"/>
            <a:ext cx="11676888" cy="1463040"/>
          </a:xfrm>
          <a:prstGeom prst="rect">
            <a:avLst/>
          </a:prstGeom>
          <a:solidFill>
            <a:srgbClr val="164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5230368"/>
            <a:ext cx="11676888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526694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</a:rPr>
              <a:t>Convergence: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55778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5CFA5"/>
                </a:solidFill>
              </a:rPr>
              <a:t>Both models converge within 10–15 epochs. No significant overfitting — validation tracks training closely throughout 30 epochs.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526694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</a:rPr>
              <a:t>F1 plateau: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55778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5CFA5"/>
                </a:solidFill>
              </a:rPr>
              <a:t>GoogLeNet validation F1 plateaus ~0.4% higher at 80/10/10. AlexNet shows more consistent convergence across all 5 splits.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526694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</a:rPr>
              <a:t>Loss shape: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55778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5CFA5"/>
                </a:solidFill>
              </a:rPr>
              <a:t>Loss decreases smoothly — Adam + BCEWithLogitsLoss is well-suited. No spikes or instability detected in any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4EC"/>
                </a:solidFill>
              </a:rPr>
              <a:t>Validation Performance Across All Splits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C060"/>
                </a:solidFill>
              </a:rPr>
              <a:t>How does each model perform as training data shrinks from 80% → 20%?</a:t>
            </a:r>
          </a:p>
        </p:txBody>
      </p:sp>
      <p:pic>
        <p:nvPicPr>
          <p:cNvPr id="7" name="Picture 6" descr="alexnet_spli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70432"/>
            <a:ext cx="6035040" cy="4114800"/>
          </a:xfrm>
          <a:prstGeom prst="rect">
            <a:avLst/>
          </a:prstGeom>
        </p:spPr>
      </p:pic>
      <p:pic>
        <p:nvPicPr>
          <p:cNvPr id="8" name="Picture 7" descr="googlenet_spli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170432"/>
            <a:ext cx="6035040" cy="4114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56032" y="5367528"/>
            <a:ext cx="11676888" cy="1325880"/>
          </a:xfrm>
          <a:prstGeom prst="rect">
            <a:avLst/>
          </a:prstGeom>
          <a:solidFill>
            <a:srgbClr val="164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5367528"/>
            <a:ext cx="11676888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5440680"/>
            <a:ext cx="113385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5CFA5"/>
                </a:solidFill>
              </a:rPr>
              <a:t>Both models show graceful degradation as training data shrinks.  The 80/10/10 split (blue) consistently delivers the best validation accuracy and F1.  Even at 20/40/40, accuracy stays above 98.7% — demonstrating strong generalization from ImageNet pretraining.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"/>
            <a:ext cx="50292" cy="822960"/>
          </a:xfrm>
          <a:prstGeom prst="rect">
            <a:avLst/>
          </a:prstGeom>
          <a:solidFill>
            <a:srgbClr val="E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315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4EC"/>
                </a:solidFill>
              </a:rPr>
              <a:t>Results — Multiclass Disease Classification (33 Types)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5CFA5"/>
                </a:solidFill>
              </a:rPr>
              <a:t>Identifying the exact disease from 33 classes across 14 crop species · CrossEntropyLoss · 30 epochs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70432"/>
            <a:ext cx="1417320" cy="713232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170432"/>
            <a:ext cx="141732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" y="1188720"/>
            <a:ext cx="13258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8F4EC"/>
                </a:solidFill>
              </a:rPr>
              <a:t>Split Ratio
(Train/Val/Test)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19072" y="1170432"/>
            <a:ext cx="1600200" cy="713232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9072" y="1170432"/>
            <a:ext cx="1600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64792" y="1188720"/>
            <a:ext cx="15087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8F4EC"/>
                </a:solidFill>
              </a:rPr>
              <a:t>AlexNet
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4991" y="1170432"/>
            <a:ext cx="1600200" cy="713232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4991" y="1170432"/>
            <a:ext cx="1600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1" y="1188720"/>
            <a:ext cx="15087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8F4EC"/>
                </a:solidFill>
              </a:rPr>
              <a:t>AlexNet
F1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10912" y="1170432"/>
            <a:ext cx="1600200" cy="713232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10912" y="1170432"/>
            <a:ext cx="1600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56631" y="1188720"/>
            <a:ext cx="15087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8F4EC"/>
                </a:solidFill>
              </a:rPr>
              <a:t>AlexNet
Recall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56831" y="1170432"/>
            <a:ext cx="1691640" cy="713232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56831" y="1170432"/>
            <a:ext cx="169164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2551" y="1188720"/>
            <a:ext cx="16002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8F4EC"/>
                </a:solidFill>
              </a:rPr>
              <a:t>GoogLeNet
Accuracy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94192" y="1170432"/>
            <a:ext cx="1691640" cy="713232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94192" y="1170432"/>
            <a:ext cx="169164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1188720"/>
            <a:ext cx="16002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8F4EC"/>
                </a:solidFill>
              </a:rPr>
              <a:t>GoogLeNet
F1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31552" y="1170432"/>
            <a:ext cx="1508760" cy="713232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131552" y="1170432"/>
            <a:ext cx="15087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77272" y="1188720"/>
            <a:ext cx="1417319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8F4EC"/>
                </a:solidFill>
              </a:rPr>
              <a:t>Winner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" y="1938528"/>
            <a:ext cx="141732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" y="2029968"/>
            <a:ext cx="1325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80 / 10 / 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19072" y="1938528"/>
            <a:ext cx="160020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64792" y="2029968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160E"/>
                </a:solidFill>
              </a:rPr>
              <a:t>95.34%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64991" y="1938528"/>
            <a:ext cx="160020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10711" y="2029968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160E"/>
                </a:solidFill>
              </a:rPr>
              <a:t>95.31%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10912" y="1938528"/>
            <a:ext cx="160020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56631" y="2029968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95.28%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56831" y="1938528"/>
            <a:ext cx="169164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02551" y="2029968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93.44%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94192" y="1938528"/>
            <a:ext cx="169164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39912" y="2029968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93.40%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31552" y="1938528"/>
            <a:ext cx="1508760" cy="603504"/>
          </a:xfrm>
          <a:prstGeom prst="rect">
            <a:avLst/>
          </a:prstGeom>
          <a:solidFill>
            <a:srgbClr val="E4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77272" y="2029968"/>
            <a:ext cx="14173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D2B0D"/>
                </a:solidFill>
              </a:rPr>
              <a:t>AlexNet 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032" y="2596896"/>
            <a:ext cx="1417320" cy="603504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1752" y="2688336"/>
            <a:ext cx="1325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60 / 20 / 20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19072" y="2596896"/>
            <a:ext cx="1600200" cy="603504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64792" y="2688336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160E"/>
                </a:solidFill>
              </a:rPr>
              <a:t>95.50%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64991" y="2596896"/>
            <a:ext cx="1600200" cy="603504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10711" y="2688336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160E"/>
                </a:solidFill>
              </a:rPr>
              <a:t>95.48%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10912" y="2596896"/>
            <a:ext cx="1600200" cy="603504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56631" y="2688336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95.46%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56831" y="2596896"/>
            <a:ext cx="1691640" cy="603504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02551" y="2688336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93.23%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94192" y="2596896"/>
            <a:ext cx="1691640" cy="603504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39912" y="2688336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93.23%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131552" y="2596896"/>
            <a:ext cx="1508760" cy="603504"/>
          </a:xfrm>
          <a:prstGeom prst="rect">
            <a:avLst/>
          </a:prstGeom>
          <a:solidFill>
            <a:srgbClr val="E4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77272" y="2688336"/>
            <a:ext cx="14173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D2B0D"/>
                </a:solidFill>
              </a:rPr>
              <a:t>AlexNet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6032" y="3255264"/>
            <a:ext cx="141732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1752" y="3346704"/>
            <a:ext cx="1325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50 / 25 / 25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719072" y="3255264"/>
            <a:ext cx="160020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764792" y="3346704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160E"/>
                </a:solidFill>
              </a:rPr>
              <a:t>95.01%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64991" y="3255264"/>
            <a:ext cx="160020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10711" y="3346704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160E"/>
                </a:solidFill>
              </a:rPr>
              <a:t>95.01%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10912" y="3255264"/>
            <a:ext cx="160020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56631" y="3346704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94.98%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56831" y="3255264"/>
            <a:ext cx="169164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02551" y="3346704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92.79%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94192" y="3255264"/>
            <a:ext cx="169164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39912" y="3346704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92.82%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131552" y="3255264"/>
            <a:ext cx="1508760" cy="603504"/>
          </a:xfrm>
          <a:prstGeom prst="rect">
            <a:avLst/>
          </a:prstGeom>
          <a:solidFill>
            <a:srgbClr val="E4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77272" y="3346704"/>
            <a:ext cx="14173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D2B0D"/>
                </a:solidFill>
              </a:rPr>
              <a:t>AlexNet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6032" y="3913632"/>
            <a:ext cx="1417320" cy="603504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01752" y="4005072"/>
            <a:ext cx="1325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40 / 30 / 30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719072" y="3913632"/>
            <a:ext cx="1600200" cy="603504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64792" y="4005072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160E"/>
                </a:solidFill>
              </a:rPr>
              <a:t>94.50%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364991" y="3913632"/>
            <a:ext cx="1600200" cy="603504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410711" y="4005072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160E"/>
                </a:solidFill>
              </a:rPr>
              <a:t>94.46%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10912" y="3913632"/>
            <a:ext cx="1600200" cy="603504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56631" y="4005072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94.44%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56831" y="3913632"/>
            <a:ext cx="1691640" cy="603504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702551" y="4005072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92.25%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394192" y="3913632"/>
            <a:ext cx="1691640" cy="603504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439912" y="4005072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92.17%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131552" y="3913632"/>
            <a:ext cx="1508760" cy="603504"/>
          </a:xfrm>
          <a:prstGeom prst="rect">
            <a:avLst/>
          </a:prstGeom>
          <a:solidFill>
            <a:srgbClr val="E4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177272" y="4005072"/>
            <a:ext cx="14173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D2B0D"/>
                </a:solidFill>
              </a:rPr>
              <a:t>AlexNet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56032" y="4572000"/>
            <a:ext cx="141732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1752" y="4663440"/>
            <a:ext cx="1325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20 / 40 / 40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719072" y="4572000"/>
            <a:ext cx="160020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764792" y="4663440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160E"/>
                </a:solidFill>
              </a:rPr>
              <a:t>93.53%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364991" y="4572000"/>
            <a:ext cx="160020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410711" y="4663440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160E"/>
                </a:solidFill>
              </a:rPr>
              <a:t>93.49%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10912" y="4572000"/>
            <a:ext cx="160020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56631" y="4663440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93.47%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656831" y="4572000"/>
            <a:ext cx="169164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702551" y="4663440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90.84%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394192" y="4572000"/>
            <a:ext cx="1691640" cy="60350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439912" y="4663440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60E"/>
                </a:solidFill>
              </a:rPr>
              <a:t>90.80%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131552" y="4572000"/>
            <a:ext cx="1508760" cy="603504"/>
          </a:xfrm>
          <a:prstGeom prst="rect">
            <a:avLst/>
          </a:prstGeom>
          <a:solidFill>
            <a:srgbClr val="E4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177272" y="4663440"/>
            <a:ext cx="14173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D2B0D"/>
                </a:solidFill>
              </a:rPr>
              <a:t>AlexNet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56032" y="5257800"/>
            <a:ext cx="11676888" cy="1444752"/>
          </a:xfrm>
          <a:prstGeom prst="rect">
            <a:avLst/>
          </a:prstGeom>
          <a:solidFill>
            <a:srgbClr val="FB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56032" y="5257800"/>
            <a:ext cx="11676888" cy="45720"/>
          </a:xfrm>
          <a:prstGeom prst="rect">
            <a:avLst/>
          </a:prstGeom>
          <a:solidFill>
            <a:srgbClr val="8B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56032" y="5257800"/>
            <a:ext cx="50292" cy="1444752"/>
          </a:xfrm>
          <a:prstGeom prst="rect">
            <a:avLst/>
          </a:prstGeom>
          <a:solidFill>
            <a:srgbClr val="8B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38912" y="529437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3A1E"/>
                </a:solidFill>
              </a:rPr>
              <a:t>Key Observations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38912" y="56692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1A160E"/>
                </a:solidFill>
              </a:rPr>
              <a:t>▸  AlexNet dominates GoogLeNet on all 5 splits — a consistent ~2% F1 advantage. Simpler head generalizes better for 33-class task.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60E"/>
                </a:solidFill>
              </a:rPr>
              <a:t>▸  Both models exceed 90% F1 even at 20/40/40 — transfer learning scales effectively to fine-grained agricultural classification.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60E"/>
                </a:solidFill>
              </a:rPr>
              <a:t>▸  AlexNet's direct FC(4096→33) outperforms GoogLeNet's deeper FC1(1024→500)→FC2(500→33) stack for multiclass.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A160E"/>
                </a:solidFill>
              </a:rPr>
              <a:t>▸  Binary task is easier (&gt;98.5% F1) than multiclass (93–95.5% F1) — as expected for a 33-class fine-grained problem.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4EC"/>
                </a:solidFill>
              </a:rPr>
              <a:t>Performance Summary — Best Metrics Across All Splits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C060"/>
                </a:solidFill>
              </a:rPr>
              <a:t>Binary Classification · Validation set · Bar = best-epoch metric for each model/split combination</a:t>
            </a:r>
          </a:p>
        </p:txBody>
      </p:sp>
      <p:pic>
        <p:nvPicPr>
          <p:cNvPr id="7" name="Picture 6" descr="best_metrics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70432"/>
            <a:ext cx="11823192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56032" y="5367528"/>
            <a:ext cx="11676888" cy="1325880"/>
          </a:xfrm>
          <a:prstGeom prst="rect">
            <a:avLst/>
          </a:prstGeom>
          <a:solidFill>
            <a:srgbClr val="164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5367528"/>
            <a:ext cx="11676888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5440680"/>
            <a:ext cx="113385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5CFA5"/>
                </a:solidFill>
              </a:rPr>
              <a:t>Blue = AlexNet · Red = GoogLeNet · Each cluster = one train/val/test split.  GoogLeNet leads at 80/10/10 on all four metrics.  AlexNet closes the gap or leads at larger test splits.  Both models remain above 97.5% across all metrics and splits — exceptionally robust transfer learning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"/>
            <a:ext cx="50292" cy="822960"/>
          </a:xfrm>
          <a:prstGeom prst="rect">
            <a:avLst/>
          </a:prstGeom>
          <a:solidFill>
            <a:srgbClr val="E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315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4EC"/>
                </a:solidFill>
              </a:rPr>
              <a:t>Grad-CAM Explainability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5CFA5"/>
                </a:solidFill>
              </a:rPr>
              <a:t>Visualizing where models focus — building trust in AI-driven disease detection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70432"/>
            <a:ext cx="4709160" cy="553212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170432"/>
            <a:ext cx="50292" cy="5532120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170432"/>
            <a:ext cx="4709160" cy="45720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207008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0D"/>
                </a:solidFill>
              </a:rPr>
              <a:t>How Grad-CAM Works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1664208"/>
            <a:ext cx="4526280" cy="978408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" y="1664208"/>
            <a:ext cx="64008" cy="978408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709928"/>
            <a:ext cx="4251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0D"/>
                </a:solidFill>
              </a:rPr>
              <a:t>1  Forward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984248"/>
            <a:ext cx="4251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235"/>
                </a:solidFill>
              </a:rPr>
              <a:t>Run image through the model. Save feature map activations at the target convolutional layer.
AlexNet → features[10]  |  GoogLeNet → inception5b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2706624"/>
            <a:ext cx="4526280" cy="978408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" y="2706624"/>
            <a:ext cx="64008" cy="978408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52344"/>
            <a:ext cx="4251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0D"/>
                </a:solidFill>
              </a:rPr>
              <a:t>2  Backward 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026664"/>
            <a:ext cx="4251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235"/>
                </a:solidFill>
              </a:rPr>
              <a:t>Compute gradient of the predicted class score with respect to the saved activations using backprop.
Tensor-level hook used to avoid inplace ReLU conflict in PyTorch.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3749039"/>
            <a:ext cx="4526280" cy="978408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" y="3749039"/>
            <a:ext cx="64008" cy="978408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794759"/>
            <a:ext cx="4251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0D"/>
                </a:solidFill>
              </a:rPr>
              <a:t>3  Weight Computation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69079"/>
            <a:ext cx="4251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235"/>
                </a:solidFill>
              </a:rPr>
              <a:t>Global average pool the gradients across spatial dimensions (H×W) → one weight per channel.
High weight = that feature map strongly drives the prediction.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4791455"/>
            <a:ext cx="4526280" cy="978408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7472" y="4791455"/>
            <a:ext cx="64008" cy="978408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837175"/>
            <a:ext cx="4251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0D"/>
                </a:solidFill>
              </a:rPr>
              <a:t>4  Weighted Activation Sum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111495"/>
            <a:ext cx="4251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235"/>
                </a:solidFill>
              </a:rPr>
              <a:t>Multiply each activation map by its weight, sum across all channels.
Apply ReLU to keep only positive influence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" y="5833871"/>
            <a:ext cx="4526280" cy="978408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7472" y="5833871"/>
            <a:ext cx="64008" cy="978408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879591"/>
            <a:ext cx="4251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0D"/>
                </a:solidFill>
              </a:rPr>
              <a:t>5  Heatmap Generation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153911"/>
            <a:ext cx="4251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235"/>
                </a:solidFill>
              </a:rPr>
              <a:t>Normalize result to [0, 1]. Upsample to 224×224 using bilinear interpolation.
Red = high attention  ·  Blue = low attention  ·  Overlay on original image.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38928" y="1170432"/>
            <a:ext cx="6793992" cy="553212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38928" y="1170432"/>
            <a:ext cx="679399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85232" y="120700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60E"/>
                </a:solidFill>
              </a:rPr>
              <a:t>Grad-CAM Output — AlexNet on Real Test Images</a:t>
            </a:r>
          </a:p>
        </p:txBody>
      </p:sp>
      <p:pic>
        <p:nvPicPr>
          <p:cNvPr id="35" name="Picture 34" descr="gradcam_summary_test_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792" y="1609344"/>
            <a:ext cx="6675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"/>
            <a:ext cx="50292" cy="822960"/>
          </a:xfrm>
          <a:prstGeom prst="rect">
            <a:avLst/>
          </a:prstGeom>
          <a:solidFill>
            <a:srgbClr val="E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315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4EC"/>
                </a:solidFill>
              </a:rPr>
              <a:t>Grad-CAM Results — Disease 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5CFA5"/>
                </a:solidFill>
              </a:rPr>
              <a:t>Cedar Rust &amp; Apple Scab · Original | Grad-CAM Heatmap | Overlay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70432"/>
            <a:ext cx="5852160" cy="256032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170432"/>
            <a:ext cx="5852160" cy="36576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5b2b9a-0ec4-4132-96ac-7f2832d0db4a___F_alex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225296"/>
            <a:ext cx="5760720" cy="230428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56032" y="3529584"/>
            <a:ext cx="5852160" cy="347472"/>
          </a:xfrm>
          <a:prstGeom prst="rect">
            <a:avLst/>
          </a:prstGeom>
          <a:solidFill>
            <a:srgbClr val="EC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3566160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0D"/>
                </a:solidFill>
              </a:rPr>
              <a:t>Cedar Rust — AlexNet ✓ CORRECT (100.0%)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1170432"/>
            <a:ext cx="5852160" cy="256032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170432"/>
            <a:ext cx="5852160" cy="36576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25b2b9a-0ec4-4132-96ac-7f2832d0db4a___F_google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225296"/>
            <a:ext cx="5760720" cy="230428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291072" y="3529584"/>
            <a:ext cx="5852160" cy="347472"/>
          </a:xfrm>
          <a:prstGeom prst="rect">
            <a:avLst/>
          </a:prstGeom>
          <a:solidFill>
            <a:srgbClr val="EC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566160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0D"/>
                </a:solidFill>
              </a:rPr>
              <a:t>Cedar Rust — GoogLeNet ✓ CORRECT (98.3%)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959352"/>
            <a:ext cx="5852160" cy="256032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959352"/>
            <a:ext cx="5852160" cy="36576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261a6e4-21f8-481a-8827-b674e6955644___F_alexn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" y="4014215"/>
            <a:ext cx="5760720" cy="230428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256032" y="6318504"/>
            <a:ext cx="5852160" cy="347472"/>
          </a:xfrm>
          <a:prstGeom prst="rect">
            <a:avLst/>
          </a:prstGeom>
          <a:solidFill>
            <a:srgbClr val="EC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6355080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0D"/>
                </a:solidFill>
              </a:rPr>
              <a:t>Apple Scab — AlexNet ✓ CORRECT (100.0%)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91072" y="3959352"/>
            <a:ext cx="5852160" cy="256032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91072" y="3959352"/>
            <a:ext cx="5852160" cy="36576"/>
          </a:xfrm>
          <a:prstGeom prst="rect">
            <a:avLst/>
          </a:prstGeom>
          <a:solidFill>
            <a:srgbClr val="B5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321e067-d13b-47d0-b3a6-76ba6f357d02___F_googlen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4014215"/>
            <a:ext cx="5760720" cy="230428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291072" y="6318504"/>
            <a:ext cx="5852160" cy="347472"/>
          </a:xfrm>
          <a:prstGeom prst="rect">
            <a:avLst/>
          </a:prstGeom>
          <a:solidFill>
            <a:srgbClr val="FC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6355080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54A2A"/>
                </a:solidFill>
              </a:rPr>
              <a:t>Cedar Rust — GoogLeNet ✗ WRONG (pred: Healthy 82.1%)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5943600"/>
            <a:ext cx="11676888" cy="749808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2" y="5943600"/>
            <a:ext cx="11676888" cy="36576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998464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60E"/>
                </a:solidFill>
              </a:rPr>
              <a:t>Disease images:  Grad-CAM attention is tightly focused on lesion/spot regions (1–10% of image area).  Peak activation = 1.0 on correctly classified disease images.  GoogLeNet misclassified Cedar Rust images show attention on stem/background — not on rust pustules — revealing the failure mode.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"/>
            <a:ext cx="50292" cy="822960"/>
          </a:xfrm>
          <a:prstGeom prst="rect">
            <a:avLst/>
          </a:prstGeom>
          <a:solidFill>
            <a:srgbClr val="E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315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4EC"/>
                </a:solidFill>
              </a:rPr>
              <a:t>Grad-CAM — Findings &amp; Biological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5CFA5"/>
                </a:solidFill>
              </a:rPr>
              <a:t>12 real PlantVillage test images · 6 Healthy (Raspberry) · 4 Cedar Rust · 2 Apple Scab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70432"/>
            <a:ext cx="2852928" cy="553212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170432"/>
            <a:ext cx="2852928" cy="475488"/>
          </a:xfrm>
          <a:prstGeom prst="rect">
            <a:avLst/>
          </a:prstGeom>
          <a:solidFill>
            <a:srgbClr val="1E5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2070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8F4EC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234440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4EC"/>
                </a:solidFill>
              </a:rPr>
              <a:t>AlexNet — 100%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1737360"/>
            <a:ext cx="263347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50">
                <a:solidFill>
                  <a:srgbClr val="1A160E"/>
                </a:solidFill>
              </a:rPr>
              <a:t>▸  All 12 test images correctly classified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1A160E"/>
                </a:solidFill>
              </a:rPr>
              <a:t>▸  Disease images: attention focused on rust pustules, scab spots (1–5% of image)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1A160E"/>
                </a:solidFill>
              </a:rPr>
              <a:t>▸  Healthy images: diffuse attention on leaf veins and mid-blade texture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1A160E"/>
                </a:solidFill>
              </a:rPr>
              <a:t>▸  No false-positive hotspots detected on healthy leaves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1A160E"/>
                </a:solidFill>
              </a:rPr>
              <a:t>▸  Peak activation = 1.0 for every disease prediction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170432"/>
            <a:ext cx="2852928" cy="553212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170432"/>
            <a:ext cx="2852928" cy="475488"/>
          </a:xfrm>
          <a:prstGeom prst="rect">
            <a:avLst/>
          </a:prstGeom>
          <a:solidFill>
            <a:srgbClr val="8B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2070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8F4EC"/>
                </a:solidFill>
              </a:rPr>
              <a:t>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59" y="1234440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4EC"/>
                </a:solidFill>
              </a:rPr>
              <a:t>GoogLeNet — 75% (9/12)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79" y="1737360"/>
            <a:ext cx="263347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50">
                <a:solidFill>
                  <a:srgbClr val="1A160E"/>
                </a:solidFill>
              </a:rPr>
              <a:t>▸  9/12 correct · 3 Cedar Rust misclassified as Healthy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1A160E"/>
                </a:solidFill>
              </a:rPr>
              <a:t>▸  Misclassified images: heatmap attention on stem/background not rust spots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1A160E"/>
                </a:solidFill>
              </a:rPr>
              <a:t>▸  Correctly classified disease images show focused attention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1A160E"/>
                </a:solidFill>
              </a:rPr>
              <a:t>▸  Lower confidence on borderline cases (50–55% probability)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1A160E"/>
                </a:solidFill>
              </a:rPr>
              <a:t>▸  More sensitive to image composition and leaf orientation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1170432"/>
            <a:ext cx="2852928" cy="553212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1170432"/>
            <a:ext cx="2852928" cy="475488"/>
          </a:xfrm>
          <a:prstGeom prst="rect">
            <a:avLst/>
          </a:prstGeom>
          <a:solidFill>
            <a:srgbClr val="2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12070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8F4EC"/>
                </a:solidFill>
              </a:rPr>
              <a:t>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1234440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4EC"/>
                </a:solidFill>
              </a:rPr>
              <a:t>Disease Pattern (Correct)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1737360"/>
            <a:ext cx="263347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50">
                <a:solidFill>
                  <a:srgbClr val="1A160E"/>
                </a:solidFill>
              </a:rPr>
              <a:t>▸  Attention clusters tightly on visible disease markers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1A160E"/>
                </a:solidFill>
              </a:rPr>
              <a:t>▸  Cedar Rust: hotspot on orange/rust pustule clusters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1A160E"/>
                </a:solidFill>
              </a:rPr>
              <a:t>▸  Apple Scab: hotspot on dark scab lesions and spots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1A160E"/>
                </a:solidFill>
              </a:rPr>
              <a:t>▸  Pattern confirms models learned biology, not artifacts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1A160E"/>
                </a:solidFill>
              </a:rPr>
              <a:t>▸  Focus area: 1–10% of 224×224 image — highly specific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26296" y="1170432"/>
            <a:ext cx="2852928" cy="553212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26296" y="1170432"/>
            <a:ext cx="2852928" cy="475488"/>
          </a:xfrm>
          <a:prstGeom prst="rect">
            <a:avLst/>
          </a:prstGeom>
          <a:solidFill>
            <a:srgbClr val="6B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17736" y="12070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8F4EC"/>
                </a:solidFill>
              </a:rPr>
              <a:t>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4936" y="1234440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4EC"/>
                </a:solidFill>
              </a:rPr>
              <a:t>Healthy Pattern (Both Models)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456" y="1737360"/>
            <a:ext cx="263347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50">
                <a:solidFill>
                  <a:srgbClr val="1A160E"/>
                </a:solidFill>
              </a:rPr>
              <a:t>▸  Healthy leaves show diffuse, low-peak attention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1A160E"/>
                </a:solidFill>
              </a:rPr>
              <a:t>▸  Model attends to overall leaf texture and vein structure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1A160E"/>
                </a:solidFill>
              </a:rPr>
              <a:t>▸  No false disease spots highlighted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1A160E"/>
                </a:solidFill>
              </a:rPr>
              <a:t>▸  Confirms model is not confusing background or lighting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1A160E"/>
                </a:solidFill>
              </a:rPr>
              <a:t>▸  Biologically valid: healthy leaves have no localized markers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"/>
            <a:ext cx="50292" cy="822960"/>
          </a:xfrm>
          <a:prstGeom prst="rect">
            <a:avLst/>
          </a:prstGeom>
          <a:solidFill>
            <a:srgbClr val="E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315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4EC"/>
                </a:solidFill>
              </a:rPr>
              <a:t>Robustness Analysis —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5CFA5"/>
                </a:solidFill>
              </a:rPr>
              <a:t>Evaluating model stability under real-world image corruptions · Adapted from Hendrycks &amp; Dietterich (2019)</a:t>
            </a:r>
          </a:p>
        </p:txBody>
      </p:sp>
      <p:pic>
        <p:nvPicPr>
          <p:cNvPr id="8" name="Picture 7" descr="sample_corru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70432"/>
            <a:ext cx="7406640" cy="5440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818120" y="1170432"/>
            <a:ext cx="4114800" cy="544068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1170432"/>
            <a:ext cx="4114800" cy="45720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170432"/>
            <a:ext cx="50292" cy="5440680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3568" y="120700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3A1E"/>
                </a:solidFill>
              </a:rPr>
              <a:t>5 Corruption Types × 5 Severities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664208"/>
            <a:ext cx="3931920" cy="950976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82127" y="1664208"/>
            <a:ext cx="54864" cy="950976"/>
          </a:xfrm>
          <a:prstGeom prst="rect">
            <a:avLst/>
          </a:prstGeom>
          <a:solidFill>
            <a:srgbClr val="8B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10144" y="170992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3A1E"/>
                </a:solidFill>
              </a:rPr>
              <a:t>Gaussian Noise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0144" y="201168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235"/>
                </a:solidFill>
              </a:rPr>
              <a:t>σ: 0.05 → 0.40
Adds random pixel noise
Simulates sensor/low-light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2670048"/>
            <a:ext cx="3931920" cy="950976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82127" y="2670048"/>
            <a:ext cx="54864" cy="950976"/>
          </a:xfrm>
          <a:prstGeom prst="rect">
            <a:avLst/>
          </a:prstGeom>
          <a:solidFill>
            <a:srgbClr val="8B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0144" y="271576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3A1E"/>
                </a:solidFill>
              </a:rPr>
              <a:t>Brightness Shift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301752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235"/>
                </a:solidFill>
              </a:rPr>
              <a:t>Factor: 0.25× → 2.0×
Darken or overexpose
Simulates bad lighting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82127" y="3675887"/>
            <a:ext cx="3931920" cy="950976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82127" y="3675887"/>
            <a:ext cx="54864" cy="950976"/>
          </a:xfrm>
          <a:prstGeom prst="rect">
            <a:avLst/>
          </a:prstGeom>
          <a:solidFill>
            <a:srgbClr val="8B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0144" y="3721607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3A1E"/>
                </a:solidFill>
              </a:rPr>
              <a:t>Contrast Shift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0144" y="4023359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235"/>
                </a:solidFill>
              </a:rPr>
              <a:t>Factor: 0.25× → 2.0×
Flat or harsh contrast
Simulates processing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4681727"/>
            <a:ext cx="3931920" cy="950976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82127" y="4681727"/>
            <a:ext cx="54864" cy="950976"/>
          </a:xfrm>
          <a:prstGeom prst="rect">
            <a:avLst/>
          </a:prstGeom>
          <a:solidFill>
            <a:srgbClr val="8B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0144" y="4727447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3A1E"/>
                </a:solidFill>
              </a:rPr>
              <a:t>Gaussian Blur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5029199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235"/>
                </a:solidFill>
              </a:rPr>
              <a:t>Radius: r=1 → r=9
Softens fine details
Simulates camera blur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5687567"/>
            <a:ext cx="3931920" cy="950976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82127" y="5687567"/>
            <a:ext cx="54864" cy="950976"/>
          </a:xfrm>
          <a:prstGeom prst="rect">
            <a:avLst/>
          </a:prstGeom>
          <a:solidFill>
            <a:srgbClr val="8B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0144" y="5733287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3A1E"/>
                </a:solidFill>
              </a:rPr>
              <a:t>JPEG Compression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0144" y="6035039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235"/>
                </a:solidFill>
              </a:rPr>
              <a:t>Quality: q=10 → q=80
Lossy artifact blocks
Simulates phone uploads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4EC"/>
                </a:solidFill>
              </a:rPr>
              <a:t>Robustness Results — Accuracy Heatmap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C060"/>
                </a:solidFill>
              </a:rPr>
              <a:t>AlexNet (left) vs GoogLeNet (right) · Green = high accuracy · Red = model fails</a:t>
            </a:r>
          </a:p>
        </p:txBody>
      </p:sp>
      <p:pic>
        <p:nvPicPr>
          <p:cNvPr id="7" name="Picture 6" descr="robustnes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70432"/>
            <a:ext cx="8229600" cy="40233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03920" y="1170432"/>
            <a:ext cx="3429000" cy="4023360"/>
          </a:xfrm>
          <a:prstGeom prst="rect">
            <a:avLst/>
          </a:prstGeom>
          <a:solidFill>
            <a:srgbClr val="164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03920" y="1170432"/>
            <a:ext cx="34290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1207008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5CFA5"/>
                </a:solidFill>
              </a:rPr>
              <a:t>Cell values = Accuracy%
Green ≥ 70% · Yellow = borderline · Red &lt; 40%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77072" y="1773936"/>
            <a:ext cx="3273552" cy="658368"/>
          </a:xfrm>
          <a:prstGeom prst="rect">
            <a:avLst/>
          </a:prstGeom>
          <a:solidFill>
            <a:srgbClr val="1C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05088" y="18105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227"/>
                </a:solidFill>
              </a:rPr>
              <a:t>Gaussian Noise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2066543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5CFA5"/>
                </a:solidFill>
              </a:rPr>
              <a:t>Most destructive.
AlexNet: 100%→42%→58%
GoogLeNet: 75%→33%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77072" y="2468880"/>
            <a:ext cx="3273552" cy="658368"/>
          </a:xfrm>
          <a:prstGeom prst="rect">
            <a:avLst/>
          </a:prstGeom>
          <a:solidFill>
            <a:srgbClr val="1C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05088" y="250545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227"/>
                </a:solidFill>
              </a:rPr>
              <a:t>Gaussian Blur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761488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5CFA5"/>
                </a:solidFill>
              </a:rPr>
              <a:t>High blur (r≥5) breaks both.
AlexNet: 50%, Goog: 58%
Fine spots vanish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77072" y="3163824"/>
            <a:ext cx="3273552" cy="658368"/>
          </a:xfrm>
          <a:prstGeom prst="rect">
            <a:avLst/>
          </a:prstGeom>
          <a:solidFill>
            <a:srgbClr val="1C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05088" y="3200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227"/>
                </a:solidFill>
              </a:rPr>
              <a:t>Brightness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345643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5CFA5"/>
                </a:solidFill>
              </a:rPr>
              <a:t>×0.25 hurts both.
×2.0 collapses GoogLeNet
to 25% accuracy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77072" y="3858768"/>
            <a:ext cx="3273552" cy="658368"/>
          </a:xfrm>
          <a:prstGeom prst="rect">
            <a:avLst/>
          </a:prstGeom>
          <a:solidFill>
            <a:srgbClr val="1C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05088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227"/>
                </a:solidFill>
              </a:rPr>
              <a:t>Contrast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4151376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5CFA5"/>
                </a:solidFill>
              </a:rPr>
              <a:t>Most robust corruption.
AlexNet: 91–100%
GoogLeNet: 58–83%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77072" y="4553712"/>
            <a:ext cx="3273552" cy="658368"/>
          </a:xfrm>
          <a:prstGeom prst="rect">
            <a:avLst/>
          </a:prstGeom>
          <a:solidFill>
            <a:srgbClr val="1C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05088" y="45902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227"/>
                </a:solidFill>
              </a:rPr>
              <a:t>JPEG q=10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484632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5CFA5"/>
                </a:solidFill>
              </a:rPr>
              <a:t>Severe compression drops
both to 58–67%.
q≥20: both recover well</a:t>
            </a:r>
          </a:p>
        </p:txBody>
      </p:sp>
      <p:pic>
        <p:nvPicPr>
          <p:cNvPr id="26" name="Picture 25" descr="robustness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5257800"/>
            <a:ext cx="11887200" cy="14813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"/>
            <a:ext cx="50292" cy="822960"/>
          </a:xfrm>
          <a:prstGeom prst="rect">
            <a:avLst/>
          </a:prstGeom>
          <a:solidFill>
            <a:srgbClr val="E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315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4EC"/>
                </a:solidFill>
              </a:rPr>
              <a:t>Robustness Findings &amp; Deployment Implications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5CFA5"/>
                </a:solidFill>
              </a:rPr>
              <a:t>What corruptions reveal about model behavior — and what it means for production 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70432"/>
            <a:ext cx="2852928" cy="553212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170432"/>
            <a:ext cx="2852928" cy="475488"/>
          </a:xfrm>
          <a:prstGeom prst="rect">
            <a:avLst/>
          </a:prstGeom>
          <a:solidFill>
            <a:srgbClr val="1E5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21615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F4EC"/>
                </a:solidFill>
              </a:rPr>
              <a:t>AlexNet is more robust overall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1737360"/>
            <a:ext cx="263347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60E"/>
                </a:solidFill>
              </a:rPr>
              <a:t>Baseline: 100% · Under worst noise (σ=0.40): 58% · Under worst blur (r=9): 50%
Consistently outperforms GoogLeNet under every corruption type tested.
Simpler architecture avoids brittle feature combinations in the head.
Recommendation: deploy AlexNet when image quality cannot be controlled.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170432"/>
            <a:ext cx="2852928" cy="553212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170432"/>
            <a:ext cx="2852928" cy="475488"/>
          </a:xfrm>
          <a:prstGeom prst="rect">
            <a:avLst/>
          </a:prstGeom>
          <a:solidFill>
            <a:srgbClr val="B5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79" y="121615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F4EC"/>
                </a:solidFill>
              </a:rPr>
              <a:t>Noise &amp; Blur are the Biggest Threats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2" y="1737360"/>
            <a:ext cx="263347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60E"/>
                </a:solidFill>
              </a:rPr>
              <a:t>Gaussian noise σ≥0.20 destroys performance in both models.
Gaussian blur r≥5 removes the fine-grained disease spots models rely on.
Implication: cameras with sensor noise or out-of-focus images significantly reduce reliability.
Production fix: reject images below a sharpness/SNR threshold before inference.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1170432"/>
            <a:ext cx="2852928" cy="553212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170432"/>
            <a:ext cx="2852928" cy="475488"/>
          </a:xfrm>
          <a:prstGeom prst="rect">
            <a:avLst/>
          </a:prstGeom>
          <a:solidFill>
            <a:srgbClr val="2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21615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F4EC"/>
                </a:solidFill>
              </a:rPr>
              <a:t>Contrast &amp; Moderate JPEG are Safe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37360"/>
            <a:ext cx="263347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60E"/>
                </a:solidFill>
              </a:rPr>
              <a:t>Contrast shifts: AlexNet 91–100% across all levels. Models adapt well.
JPEG compression ≥ q=20: both models recover to near-baseline accuracy.
Only extreme compression (q=10) causes meaningful degradation.
Implication: JPEG uploads from smartphones (typically q=75–95) are safe.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26296" y="1170432"/>
            <a:ext cx="2852928" cy="553212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26296" y="1170432"/>
            <a:ext cx="2852928" cy="475488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3456" y="121615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F4EC"/>
                </a:solidFill>
              </a:rPr>
              <a:t>GoogLeNet is Brightness-Sensitive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1737360"/>
            <a:ext cx="263347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60E"/>
                </a:solidFill>
              </a:rPr>
              <a:t>At ×2.0 brightness, GoogLeNet accuracy collapses to 25% — far below AlexNet (92%).
Likely cause: deeper Inception modules amplify overexposed feature maps.
Practical impact: field images taken in direct sunlight may fail on GoogLeNet.
Fix: add automatic brightness normalization in pre-processing pipeline.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"/>
            <a:ext cx="50292" cy="822960"/>
          </a:xfrm>
          <a:prstGeom prst="rect">
            <a:avLst/>
          </a:prstGeom>
          <a:solidFill>
            <a:srgbClr val="E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315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4EC"/>
                </a:solidFill>
              </a:rPr>
              <a:t>Contributions — What We Used vs What We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5CFA5"/>
                </a:solidFill>
              </a:rPr>
              <a:t>Clear attribution as required by course rubric · Existing works cited · Original contributions highlighted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70432"/>
            <a:ext cx="5349240" cy="5532120"/>
          </a:xfrm>
          <a:prstGeom prst="rect">
            <a:avLst/>
          </a:prstGeom>
          <a:solidFill>
            <a:srgbClr val="F2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170432"/>
            <a:ext cx="5349240" cy="475488"/>
          </a:xfrm>
          <a:prstGeom prst="rect">
            <a:avLst/>
          </a:prstGeom>
          <a:solidFill>
            <a:srgbClr val="786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170432"/>
            <a:ext cx="50292" cy="5532120"/>
          </a:xfrm>
          <a:prstGeom prst="rect">
            <a:avLst/>
          </a:prstGeom>
          <a:solidFill>
            <a:srgbClr val="786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207008"/>
            <a:ext cx="5074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4EC"/>
                </a:solidFill>
              </a:rPr>
              <a:t>Existing Work (Reused / Adapted)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1737360"/>
            <a:ext cx="5166360" cy="78638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" y="1737360"/>
            <a:ext cx="54864" cy="786384"/>
          </a:xfrm>
          <a:prstGeom prst="rect">
            <a:avLst/>
          </a:prstGeom>
          <a:solidFill>
            <a:srgbClr val="786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177393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3A1E"/>
                </a:solidFill>
              </a:rPr>
              <a:t>PlantVillage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2066543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4235"/>
                </a:solidFill>
              </a:rPr>
              <a:t>Hughes &amp; Salathé (2015) — openly licensed CC BY 4.0
https://github.com/spMohanty/PlantVillage-Dataset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2587752"/>
            <a:ext cx="5166360" cy="78638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" y="2587752"/>
            <a:ext cx="54864" cy="786384"/>
          </a:xfrm>
          <a:prstGeom prst="rect">
            <a:avLst/>
          </a:prstGeom>
          <a:solidFill>
            <a:srgbClr val="786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262432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3A1E"/>
                </a:solidFill>
              </a:rPr>
              <a:t>AlexNet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291693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4235"/>
                </a:solidFill>
              </a:rPr>
              <a:t>Krizhevsky et al. (2012) — torchvision.models.alexnet
ImageNet pretrained weights via PyTorch Hub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3438144"/>
            <a:ext cx="5166360" cy="78638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" y="3438144"/>
            <a:ext cx="54864" cy="786384"/>
          </a:xfrm>
          <a:prstGeom prst="rect">
            <a:avLst/>
          </a:prstGeom>
          <a:solidFill>
            <a:srgbClr val="786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" y="347472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3A1E"/>
                </a:solidFill>
              </a:rPr>
              <a:t>GoogLeNet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" y="376732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4235"/>
                </a:solidFill>
              </a:rPr>
              <a:t>Szegedy et al. (2014) — torchvision.models.googlenet
ImageNet pretrained weights via PyTorch Hub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4288536"/>
            <a:ext cx="5166360" cy="78638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7472" y="4288536"/>
            <a:ext cx="54864" cy="786384"/>
          </a:xfrm>
          <a:prstGeom prst="rect">
            <a:avLst/>
          </a:prstGeom>
          <a:solidFill>
            <a:srgbClr val="786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" y="432511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3A1E"/>
                </a:solidFill>
              </a:rPr>
              <a:t>Grad-CAM Algorithm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" y="4617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4235"/>
                </a:solidFill>
              </a:rPr>
              <a:t>Selvaraju et al. (2017, ICCV) — gradient-based XAI
Core algorithm adapted; our PyTorch hook implementation is original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" y="5138928"/>
            <a:ext cx="5166360" cy="78638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7472" y="5138928"/>
            <a:ext cx="54864" cy="786384"/>
          </a:xfrm>
          <a:prstGeom prst="rect">
            <a:avLst/>
          </a:prstGeom>
          <a:solidFill>
            <a:srgbClr val="786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" y="517550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3A1E"/>
                </a:solidFill>
              </a:rPr>
              <a:t>80/10/10 Split 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" y="546811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4235"/>
                </a:solidFill>
              </a:rPr>
              <a:t>Mohanty et al. (2016) — their experimental recommendation
We replicate their split ratio and compare across 5 ratios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" y="5989320"/>
            <a:ext cx="5166360" cy="78638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7472" y="5989320"/>
            <a:ext cx="54864" cy="786384"/>
          </a:xfrm>
          <a:prstGeom prst="rect">
            <a:avLst/>
          </a:prstGeom>
          <a:solidFill>
            <a:srgbClr val="786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" y="602589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3A1E"/>
                </a:solidFill>
              </a:rPr>
              <a:t>Robustness Corruption Protocol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" y="631850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4235"/>
                </a:solidFill>
              </a:rPr>
              <a:t>Hendrycks &amp; Dietterich (2019, ICLR) — ImageNet-C framework
We adapt 5 of their corruption types for agricultural domain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79008" y="1170432"/>
            <a:ext cx="6153912" cy="5532120"/>
          </a:xfrm>
          <a:prstGeom prst="rect">
            <a:avLst/>
          </a:prstGeom>
          <a:solidFill>
            <a:srgbClr val="EA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79008" y="1170432"/>
            <a:ext cx="6153912" cy="475488"/>
          </a:xfrm>
          <a:prstGeom prst="rect">
            <a:avLst/>
          </a:prstGeom>
          <a:solidFill>
            <a:srgbClr val="1E5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79008" y="1170432"/>
            <a:ext cx="50292" cy="55321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61888" y="1207008"/>
            <a:ext cx="58795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4EC"/>
                </a:solidFill>
              </a:rPr>
              <a:t>Our Original Contributions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70448" y="1719072"/>
            <a:ext cx="5925312" cy="347472"/>
          </a:xfrm>
          <a:prstGeom prst="rect">
            <a:avLst/>
          </a:prstGeom>
          <a:solidFill>
            <a:srgbClr val="1E5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89320" y="17647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4EC"/>
                </a:solidFill>
              </a:rPr>
              <a:t>Abeoseh Flomo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97880" y="2103120"/>
            <a:ext cx="5897880" cy="51206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97880" y="2103120"/>
            <a:ext cx="45720" cy="512064"/>
          </a:xfrm>
          <a:prstGeom prst="rect">
            <a:avLst/>
          </a:prstGeom>
          <a:solidFill>
            <a:srgbClr val="1E5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16752" y="217627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0E"/>
                </a:solidFill>
              </a:rPr>
              <a:t>·  End-to-end training pipeline — train_healthy_disease.py, train_disease_type.py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97880" y="2651760"/>
            <a:ext cx="5897880" cy="51206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97880" y="2651760"/>
            <a:ext cx="45720" cy="512064"/>
          </a:xfrm>
          <a:prstGeom prst="rect">
            <a:avLst/>
          </a:prstGeom>
          <a:solidFill>
            <a:srgbClr val="1E5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16752" y="272491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0E"/>
                </a:solidFill>
              </a:rPr>
              <a:t>·  5-split experimental design with best-F1 checkpointing strategy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97880" y="3200400"/>
            <a:ext cx="5897880" cy="51206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97880" y="3200400"/>
            <a:ext cx="45720" cy="512064"/>
          </a:xfrm>
          <a:prstGeom prst="rect">
            <a:avLst/>
          </a:prstGeom>
          <a:solidFill>
            <a:srgbClr val="1E5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16752" y="3273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0E"/>
                </a:solidFill>
              </a:rPr>
              <a:t>·  Full training loop: Adam optimizer, BCEWithLogitsLoss, CrossEntropyLoss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97880" y="3749039"/>
            <a:ext cx="5897880" cy="51206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897880" y="3749039"/>
            <a:ext cx="45720" cy="512064"/>
          </a:xfrm>
          <a:prstGeom prst="rect">
            <a:avLst/>
          </a:prstGeom>
          <a:solidFill>
            <a:srgbClr val="1E5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16752" y="3822191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0E"/>
                </a:solidFill>
              </a:rPr>
              <a:t>·  Streamlit web app for real-time inference (in progress — demo ready for presentation)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0448" y="4407407"/>
            <a:ext cx="5925312" cy="347472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89320" y="4453127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4EC"/>
                </a:solidFill>
              </a:rPr>
              <a:t>Ruthwik Narreddy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97880" y="4791455"/>
            <a:ext cx="5897880" cy="51206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897880" y="4791455"/>
            <a:ext cx="45720" cy="512064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16752" y="4864607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0E"/>
                </a:solidFill>
              </a:rPr>
              <a:t>·  Grad-CAM engine (scripts/gradcam.py) — custom PyTorch hook solving inplace ReLU conflict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97880" y="5340095"/>
            <a:ext cx="5897880" cy="51206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97880" y="5340095"/>
            <a:ext cx="45720" cy="512064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16752" y="5413247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0E"/>
                </a:solidFill>
              </a:rPr>
              <a:t>·  Test image evaluation + biological analysis (run_gradcam_test_images.py)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97880" y="5888735"/>
            <a:ext cx="5897880" cy="51206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97880" y="5888735"/>
            <a:ext cx="45720" cy="512064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16752" y="5961887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0E"/>
                </a:solidFill>
              </a:rPr>
              <a:t>·  Training curve visualization suite — 14 plots (plot_training_curves.py)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97880" y="6437375"/>
            <a:ext cx="5897880" cy="51206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897880" y="6437375"/>
            <a:ext cx="45720" cy="512064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16752" y="6510527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0E"/>
                </a:solidFill>
              </a:rPr>
              <a:t>·  Robustness testing framework — 5 corruptions × 5 severities + heatmap analysis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897880" y="6986015"/>
            <a:ext cx="5897880" cy="512064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7880" y="6986015"/>
            <a:ext cx="45720" cy="512064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016752" y="7059167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0E"/>
                </a:solidFill>
              </a:rPr>
              <a:t>·  Presentation slides and project documentation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"/>
            <a:ext cx="50292" cy="822960"/>
          </a:xfrm>
          <a:prstGeom prst="rect">
            <a:avLst/>
          </a:prstGeom>
          <a:solidFill>
            <a:srgbClr val="E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315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4EC"/>
                </a:solidFill>
              </a:rPr>
              <a:t>Conclusion &amp; Future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5989320" cy="553212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170432"/>
            <a:ext cx="5989320" cy="475488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170432"/>
            <a:ext cx="50292" cy="55321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16152"/>
            <a:ext cx="5715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4EC"/>
                </a:solidFill>
              </a:rPr>
              <a:t>Conclusion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1719072"/>
            <a:ext cx="5806440" cy="987552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" y="1719072"/>
            <a:ext cx="64008" cy="987552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764792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0D"/>
                </a:solidFill>
              </a:rPr>
              <a:t>Binary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66543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235"/>
                </a:solidFill>
              </a:rPr>
              <a:t>Both models exceed 98.5% F1 at 80/10/10 split.
GoogLeNet edges AlexNet (98.62% vs 98.31%).
Transfer learning from ImageNet is highly effective.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2752344"/>
            <a:ext cx="5806440" cy="987552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" y="2752344"/>
            <a:ext cx="64008" cy="987552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798063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0D"/>
                </a:solidFill>
              </a:rPr>
              <a:t>Multiclass (33 diseases)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99815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235"/>
                </a:solidFill>
              </a:rPr>
              <a:t>AlexNet wins decisively — 95.5% vs 93.4% F1.
Consistent advantage across all 5 splits.
Simpler classification head generalizes better.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3785615"/>
            <a:ext cx="5806440" cy="987552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" y="3785615"/>
            <a:ext cx="64008" cy="987552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831335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0D"/>
                </a:solidFill>
              </a:rPr>
              <a:t>Grad-CAM Explainability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33087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235"/>
                </a:solidFill>
              </a:rPr>
              <a:t>Models attend to biologically meaningful regions.
AlexNet: 100% accuracy, precise lesion focus.
GoogLeNet fails on 3 Cedar Rust — heatmap reveals why.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4818888"/>
            <a:ext cx="5806440" cy="987552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7472" y="4818888"/>
            <a:ext cx="64008" cy="987552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864607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0D"/>
                </a:solidFill>
              </a:rPr>
              <a:t>Robustness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166359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235"/>
                </a:solidFill>
              </a:rPr>
              <a:t>Gaussian noise and blur are the biggest threats.
AlexNet is more robust overall across all corruption types.
Contrast variation and JPEG (q≥20) handled well by both.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" y="5852159"/>
            <a:ext cx="5806440" cy="987552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" y="5852159"/>
            <a:ext cx="64008" cy="987552"/>
          </a:xfrm>
          <a:prstGeom prst="rect">
            <a:avLst/>
          </a:prstGeom>
          <a:solidFill>
            <a:srgbClr val="2E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897879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0D"/>
                </a:solidFill>
              </a:rPr>
              <a:t>Overall Achievement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199631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235"/>
                </a:solidFill>
              </a:rPr>
              <a:t>AgroVision AI reproduces SOTA results from Mohanty et al.
We add explainability and robustness testing — gaps they left.
Ready for real-world agricultural deployment with quality checks.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19088" y="1170432"/>
            <a:ext cx="5513832" cy="553212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19088" y="1170432"/>
            <a:ext cx="5513832" cy="475488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19088" y="1170432"/>
            <a:ext cx="50292" cy="5532120"/>
          </a:xfrm>
          <a:prstGeom prst="rect">
            <a:avLst/>
          </a:prstGeom>
          <a:solidFill>
            <a:srgbClr val="E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1216152"/>
            <a:ext cx="5239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4EC"/>
                </a:solidFill>
              </a:rPr>
              <a:t>Future Work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10528" y="1719072"/>
            <a:ext cx="5330952" cy="850392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10528" y="1719072"/>
            <a:ext cx="54864" cy="850392"/>
          </a:xfrm>
          <a:prstGeom prst="rect">
            <a:avLst/>
          </a:prstGeom>
          <a:solidFill>
            <a:srgbClr val="8B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38544" y="17647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5C3A1E"/>
                </a:solidFill>
              </a:rPr>
              <a:t>ResNet / EfficientNet / ViT Comparison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38544" y="2066543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235"/>
                </a:solidFill>
              </a:rPr>
              <a:t>Test modern architectures. Vision Transformer expected to excel at 33-class due to global attention.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10528" y="2633472"/>
            <a:ext cx="5330952" cy="850392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10528" y="2633472"/>
            <a:ext cx="54864" cy="850392"/>
          </a:xfrm>
          <a:prstGeom prst="rect">
            <a:avLst/>
          </a:prstGeom>
          <a:solidFill>
            <a:srgbClr val="8B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38544" y="2679191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5C3A1E"/>
                </a:solidFill>
              </a:rPr>
              <a:t>Augmentation Ablation Study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38544" y="298094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235"/>
                </a:solidFill>
              </a:rPr>
              <a:t>Quantify contribution of each augmentation. How much does ColorJitter vs Flip individually help?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10528" y="3547872"/>
            <a:ext cx="5330952" cy="850392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10528" y="3547872"/>
            <a:ext cx="54864" cy="850392"/>
          </a:xfrm>
          <a:prstGeom prst="rect">
            <a:avLst/>
          </a:prstGeom>
          <a:solidFill>
            <a:srgbClr val="8B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38544" y="3593591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5C3A1E"/>
                </a:solidFill>
              </a:rPr>
              <a:t>Adversarial Robustness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38544" y="389534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235"/>
                </a:solidFill>
              </a:rPr>
              <a:t>FGSM / PGD adversarial attack testing. Adversarial training to harden the production model.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10528" y="4462272"/>
            <a:ext cx="5330952" cy="850392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10528" y="4462272"/>
            <a:ext cx="54864" cy="850392"/>
          </a:xfrm>
          <a:prstGeom prst="rect">
            <a:avLst/>
          </a:prstGeom>
          <a:solidFill>
            <a:srgbClr val="8B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38544" y="45079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5C3A1E"/>
                </a:solidFill>
              </a:rPr>
              <a:t>Field Data Collection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38544" y="480974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235"/>
                </a:solidFill>
              </a:rPr>
              <a:t>Capture real smartphone photos under field conditions. Quantify distribution shift from lab dataset.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10528" y="5376672"/>
            <a:ext cx="5330952" cy="850392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510528" y="5376672"/>
            <a:ext cx="54864" cy="850392"/>
          </a:xfrm>
          <a:prstGeom prst="rect">
            <a:avLst/>
          </a:prstGeom>
          <a:solidFill>
            <a:srgbClr val="8B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38544" y="54223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5C3A1E"/>
                </a:solidFill>
              </a:rPr>
              <a:t>Streamlit Full Deployment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38544" y="572414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235"/>
                </a:solidFill>
              </a:rPr>
              <a:t>Upload leaf image → Binary + Multiclass prediction + Grad-CAM visualization in one real-time click.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10528" y="6291072"/>
            <a:ext cx="5330952" cy="850392"/>
          </a:xfrm>
          <a:prstGeom prst="rect">
            <a:avLst/>
          </a:prstGeom>
          <a:solidFill>
            <a:srgbClr val="EE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510528" y="6291072"/>
            <a:ext cx="54864" cy="850392"/>
          </a:xfrm>
          <a:prstGeom prst="rect">
            <a:avLst/>
          </a:prstGeom>
          <a:solidFill>
            <a:srgbClr val="8B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38544" y="63367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5C3A1E"/>
                </a:solidFill>
              </a:rPr>
              <a:t>Federated Learning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38544" y="663854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235"/>
                </a:solidFill>
              </a:rPr>
              <a:t>Train across farmer devices without centralizing data — privacy-preserving plant disease detection.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98848"/>
            <a:ext cx="12188952" cy="2359152"/>
          </a:xfrm>
          <a:prstGeom prst="rect">
            <a:avLst/>
          </a:prstGeom>
          <a:solidFill>
            <a:srgbClr val="123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62272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71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0"/>
            <a:ext cx="45720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71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943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8F4EC"/>
                </a:solidFill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E8C060"/>
                </a:solidFill>
              </a:rPr>
              <a:t>AgroVision AI  ·  Group 8  ·  DSBA 6165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633472"/>
            <a:ext cx="5943600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1635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B5CFA5"/>
                </a:solidFill>
              </a:rPr>
              <a:t>Questions &amp; Discussion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451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</a:rPr>
              <a:t>GitHub: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464515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5CFA5"/>
                </a:solidFill>
              </a:rPr>
              <a:t>github.com/ruthwiknarreddy/AI-and-Deep-Learning-Group-8--6165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292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</a:rPr>
              <a:t>Dataset: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502920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5CFA5"/>
                </a:solidFill>
              </a:rPr>
              <a:t>PlantVillage — Hughes &amp; Salathé (2015)  ·  DiaMOS  ·  Pumpkin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132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</a:rPr>
              <a:t>Models: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541324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5CFA5"/>
                </a:solidFill>
              </a:rPr>
              <a:t>AlexNet (Krizhevsky et al. 2012)  ·  GoogLeNet (Szegedy et al. 2014)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972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</a:rPr>
              <a:t>XAI: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79729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5CFA5"/>
                </a:solidFill>
              </a:rPr>
              <a:t>Grad-CAM — Selvaraju et al., ICCV 2017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1813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</a:rPr>
              <a:t>Robustness: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618134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5CFA5"/>
                </a:solidFill>
              </a:rPr>
              <a:t>Hendrycks &amp; Dietterich, ICLR 2019 (ImageNet-C)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